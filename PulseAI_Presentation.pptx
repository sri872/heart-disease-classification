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5943600" y="182879"/>
            <a:ext cx="3474721" cy="3474722"/>
          </a:xfrm>
          <a:prstGeom prst="ellipse">
            <a:avLst/>
          </a:prstGeom>
          <a:solidFill>
            <a:srgbClr val="122B55"/>
          </a:solidFill>
          <a:ln w="25400">
            <a:solidFill>
              <a:srgbClr val="00C2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6400800" y="640079"/>
            <a:ext cx="2560321" cy="2560322"/>
          </a:xfrm>
          <a:prstGeom prst="ellipse">
            <a:avLst/>
          </a:prstGeom>
          <a:solidFill>
            <a:srgbClr val="00C2B8">
              <a:alpha val="15000"/>
            </a:srgbClr>
          </a:solidFill>
          <a:ln w="12700">
            <a:solidFill>
              <a:srgbClr val="007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6903719" y="1271269"/>
            <a:ext cx="1554481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🫀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59279" y="782319"/>
            <a:ext cx="5475203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800" sz="5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PULSE AI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27760" y="1703582"/>
            <a:ext cx="530352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000">
                <a:solidFill>
                  <a:srgbClr val="00C2B8"/>
                </a:solidFill>
              </a:defRPr>
            </a:lvl1pPr>
          </a:lstStyle>
          <a:p>
            <a:pPr/>
            <a:r>
              <a:t>Clinical Decision Support System</a:t>
            </a:r>
          </a:p>
        </p:txBody>
      </p:sp>
      <p:sp>
        <p:nvSpPr>
          <p:cNvPr id="26" name="Shape 6"/>
          <p:cNvSpPr/>
          <p:nvPr/>
        </p:nvSpPr>
        <p:spPr>
          <a:xfrm>
            <a:off x="627761" y="2170853"/>
            <a:ext cx="4754880" cy="36577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627760" y="2441933"/>
            <a:ext cx="53035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E8F0FF"/>
                </a:solidFill>
              </a:defRPr>
            </a:lvl1pPr>
          </a:lstStyle>
          <a:p>
            <a:pPr/>
            <a:r>
              <a:t>AI-Powered Heart Disease Prediction &amp; Explainability</a:t>
            </a:r>
          </a:p>
        </p:txBody>
      </p:sp>
      <p:sp>
        <p:nvSpPr>
          <p:cNvPr id="28" name="Shape 8"/>
          <p:cNvSpPr/>
          <p:nvPr/>
        </p:nvSpPr>
        <p:spPr>
          <a:xfrm>
            <a:off x="457200" y="3108960"/>
            <a:ext cx="1170433" cy="329185"/>
          </a:xfrm>
          <a:prstGeom prst="rect">
            <a:avLst/>
          </a:prstGeom>
          <a:solidFill>
            <a:srgbClr val="007A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502919" y="3170595"/>
            <a:ext cx="10789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30" name="Shape 10"/>
          <p:cNvSpPr/>
          <p:nvPr/>
        </p:nvSpPr>
        <p:spPr>
          <a:xfrm>
            <a:off x="1737360" y="3108960"/>
            <a:ext cx="1170433" cy="329185"/>
          </a:xfrm>
          <a:prstGeom prst="rect">
            <a:avLst/>
          </a:prstGeom>
          <a:solidFill>
            <a:srgbClr val="007A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1783079" y="3170595"/>
            <a:ext cx="10789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SHAP XAI</a:t>
            </a:r>
          </a:p>
        </p:txBody>
      </p:sp>
      <p:sp>
        <p:nvSpPr>
          <p:cNvPr id="32" name="Shape 12"/>
          <p:cNvSpPr/>
          <p:nvPr/>
        </p:nvSpPr>
        <p:spPr>
          <a:xfrm>
            <a:off x="3017520" y="3108960"/>
            <a:ext cx="1170433" cy="329185"/>
          </a:xfrm>
          <a:prstGeom prst="rect">
            <a:avLst/>
          </a:prstGeom>
          <a:solidFill>
            <a:srgbClr val="007A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3063239" y="3170595"/>
            <a:ext cx="10789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CTGAN + TVAE</a:t>
            </a:r>
          </a:p>
        </p:txBody>
      </p:sp>
      <p:sp>
        <p:nvSpPr>
          <p:cNvPr id="34" name="Shape 14"/>
          <p:cNvSpPr/>
          <p:nvPr/>
        </p:nvSpPr>
        <p:spPr>
          <a:xfrm>
            <a:off x="4297679" y="3108960"/>
            <a:ext cx="1170433" cy="329185"/>
          </a:xfrm>
          <a:prstGeom prst="rect">
            <a:avLst/>
          </a:prstGeom>
          <a:solidFill>
            <a:srgbClr val="007A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5"/>
          <p:cNvSpPr txBox="1"/>
          <p:nvPr/>
        </p:nvSpPr>
        <p:spPr>
          <a:xfrm>
            <a:off x="4343400" y="3170595"/>
            <a:ext cx="10789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Flask REST API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502919" y="4550585"/>
            <a:ext cx="8138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899BB"/>
                </a:solidFill>
              </a:defRPr>
            </a:lvl1pPr>
          </a:lstStyle>
          <a:p>
            <a:pPr/>
            <a:r>
              <a:t>Academic Presentation Build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"/>
          <p:cNvSpPr txBox="1"/>
          <p:nvPr/>
        </p:nvSpPr>
        <p:spPr>
          <a:xfrm>
            <a:off x="457200" y="134620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B1D3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Table of Contents</a:t>
            </a:r>
          </a:p>
        </p:txBody>
      </p:sp>
      <p:sp>
        <p:nvSpPr>
          <p:cNvPr id="40" name="Shape 2"/>
          <p:cNvSpPr/>
          <p:nvPr/>
        </p:nvSpPr>
        <p:spPr>
          <a:xfrm>
            <a:off x="365759" y="1005839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3"/>
          <p:cNvSpPr txBox="1"/>
          <p:nvPr/>
        </p:nvSpPr>
        <p:spPr>
          <a:xfrm>
            <a:off x="411479" y="1066722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2" name="Text 4"/>
          <p:cNvSpPr txBox="1"/>
          <p:nvPr/>
        </p:nvSpPr>
        <p:spPr>
          <a:xfrm>
            <a:off x="914399" y="999657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Introduction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Project overview &amp; motivation</a:t>
            </a:r>
          </a:p>
        </p:txBody>
      </p:sp>
      <p:sp>
        <p:nvSpPr>
          <p:cNvPr id="43" name="Shape 5"/>
          <p:cNvSpPr/>
          <p:nvPr/>
        </p:nvSpPr>
        <p:spPr>
          <a:xfrm>
            <a:off x="365759" y="1636776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6"/>
          <p:cNvSpPr txBox="1"/>
          <p:nvPr/>
        </p:nvSpPr>
        <p:spPr>
          <a:xfrm>
            <a:off x="411479" y="1697658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5" name="Text 7"/>
          <p:cNvSpPr txBox="1"/>
          <p:nvPr/>
        </p:nvSpPr>
        <p:spPr>
          <a:xfrm>
            <a:off x="914399" y="1630593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Problem Statement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The cardiac health gap</a:t>
            </a:r>
          </a:p>
        </p:txBody>
      </p:sp>
      <p:sp>
        <p:nvSpPr>
          <p:cNvPr id="46" name="Shape 8"/>
          <p:cNvSpPr/>
          <p:nvPr/>
        </p:nvSpPr>
        <p:spPr>
          <a:xfrm>
            <a:off x="365759" y="2267711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9"/>
          <p:cNvSpPr txBox="1"/>
          <p:nvPr/>
        </p:nvSpPr>
        <p:spPr>
          <a:xfrm>
            <a:off x="411479" y="2328593"/>
            <a:ext cx="292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8" name="Text 10"/>
          <p:cNvSpPr txBox="1"/>
          <p:nvPr/>
        </p:nvSpPr>
        <p:spPr>
          <a:xfrm>
            <a:off x="914399" y="2261529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Existing Solutions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Limitations of current tools</a:t>
            </a:r>
          </a:p>
        </p:txBody>
      </p:sp>
      <p:sp>
        <p:nvSpPr>
          <p:cNvPr id="49" name="Shape 11"/>
          <p:cNvSpPr/>
          <p:nvPr/>
        </p:nvSpPr>
        <p:spPr>
          <a:xfrm>
            <a:off x="365759" y="2898648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2"/>
          <p:cNvSpPr txBox="1"/>
          <p:nvPr/>
        </p:nvSpPr>
        <p:spPr>
          <a:xfrm>
            <a:off x="411479" y="2959530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1" name="Text 13"/>
          <p:cNvSpPr txBox="1"/>
          <p:nvPr/>
        </p:nvSpPr>
        <p:spPr>
          <a:xfrm>
            <a:off x="914399" y="2892465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Proposed Solution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Pulse AI architecture overview</a:t>
            </a:r>
          </a:p>
        </p:txBody>
      </p:sp>
      <p:sp>
        <p:nvSpPr>
          <p:cNvPr id="52" name="Shape 14"/>
          <p:cNvSpPr/>
          <p:nvPr/>
        </p:nvSpPr>
        <p:spPr>
          <a:xfrm>
            <a:off x="365759" y="3529584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5"/>
          <p:cNvSpPr txBox="1"/>
          <p:nvPr/>
        </p:nvSpPr>
        <p:spPr>
          <a:xfrm>
            <a:off x="411479" y="3590466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4" name="Text 16"/>
          <p:cNvSpPr txBox="1"/>
          <p:nvPr/>
        </p:nvSpPr>
        <p:spPr>
          <a:xfrm>
            <a:off x="914399" y="3523401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Models Used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Random Forest + Generative AI</a:t>
            </a:r>
          </a:p>
        </p:txBody>
      </p:sp>
      <p:sp>
        <p:nvSpPr>
          <p:cNvPr id="55" name="Shape 17"/>
          <p:cNvSpPr/>
          <p:nvPr/>
        </p:nvSpPr>
        <p:spPr>
          <a:xfrm>
            <a:off x="365759" y="4160520"/>
            <a:ext cx="384049" cy="347473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8"/>
          <p:cNvSpPr txBox="1"/>
          <p:nvPr/>
        </p:nvSpPr>
        <p:spPr>
          <a:xfrm>
            <a:off x="411479" y="4221402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57" name="Text 19"/>
          <p:cNvSpPr txBox="1"/>
          <p:nvPr/>
        </p:nvSpPr>
        <p:spPr>
          <a:xfrm>
            <a:off x="914399" y="4154337"/>
            <a:ext cx="3200402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ML Workflow / Pipeline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End-to-end data flow</a:t>
            </a:r>
          </a:p>
        </p:txBody>
      </p:sp>
      <p:sp>
        <p:nvSpPr>
          <p:cNvPr id="58" name="Shape 20"/>
          <p:cNvSpPr/>
          <p:nvPr/>
        </p:nvSpPr>
        <p:spPr>
          <a:xfrm>
            <a:off x="4754879" y="1005839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1"/>
          <p:cNvSpPr txBox="1"/>
          <p:nvPr/>
        </p:nvSpPr>
        <p:spPr>
          <a:xfrm>
            <a:off x="4800600" y="1066722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60" name="Text 22"/>
          <p:cNvSpPr txBox="1"/>
          <p:nvPr/>
        </p:nvSpPr>
        <p:spPr>
          <a:xfrm>
            <a:off x="5303520" y="999657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Screenshots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Implemented system UI</a:t>
            </a:r>
          </a:p>
        </p:txBody>
      </p:sp>
      <p:sp>
        <p:nvSpPr>
          <p:cNvPr id="61" name="Shape 23"/>
          <p:cNvSpPr/>
          <p:nvPr/>
        </p:nvSpPr>
        <p:spPr>
          <a:xfrm>
            <a:off x="4754879" y="1636776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24"/>
          <p:cNvSpPr txBox="1"/>
          <p:nvPr/>
        </p:nvSpPr>
        <p:spPr>
          <a:xfrm>
            <a:off x="4800600" y="1697658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63" name="Text 25"/>
          <p:cNvSpPr txBox="1"/>
          <p:nvPr/>
        </p:nvSpPr>
        <p:spPr>
          <a:xfrm>
            <a:off x="5303520" y="1630593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Results &amp; Discussion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Key findings</a:t>
            </a:r>
          </a:p>
        </p:txBody>
      </p:sp>
      <p:sp>
        <p:nvSpPr>
          <p:cNvPr id="64" name="Shape 26"/>
          <p:cNvSpPr/>
          <p:nvPr/>
        </p:nvSpPr>
        <p:spPr>
          <a:xfrm>
            <a:off x="4754879" y="2267711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7"/>
          <p:cNvSpPr txBox="1"/>
          <p:nvPr/>
        </p:nvSpPr>
        <p:spPr>
          <a:xfrm>
            <a:off x="4800600" y="2328593"/>
            <a:ext cx="292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66" name="Text 28"/>
          <p:cNvSpPr txBox="1"/>
          <p:nvPr/>
        </p:nvSpPr>
        <p:spPr>
          <a:xfrm>
            <a:off x="5303520" y="2261529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Performance Evaluation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Accuracy, F1, Precision, Recall</a:t>
            </a:r>
          </a:p>
        </p:txBody>
      </p:sp>
      <p:sp>
        <p:nvSpPr>
          <p:cNvPr id="67" name="Shape 29"/>
          <p:cNvSpPr/>
          <p:nvPr/>
        </p:nvSpPr>
        <p:spPr>
          <a:xfrm>
            <a:off x="4754879" y="2898648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30"/>
          <p:cNvSpPr txBox="1"/>
          <p:nvPr/>
        </p:nvSpPr>
        <p:spPr>
          <a:xfrm>
            <a:off x="4800600" y="2959530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9" name="Text 31"/>
          <p:cNvSpPr txBox="1"/>
          <p:nvPr/>
        </p:nvSpPr>
        <p:spPr>
          <a:xfrm>
            <a:off x="5303520" y="2892465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Roadmap &amp; enhancements</a:t>
            </a:r>
          </a:p>
        </p:txBody>
      </p:sp>
      <p:sp>
        <p:nvSpPr>
          <p:cNvPr id="70" name="Shape 32"/>
          <p:cNvSpPr/>
          <p:nvPr/>
        </p:nvSpPr>
        <p:spPr>
          <a:xfrm>
            <a:off x="4754879" y="3529584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3"/>
          <p:cNvSpPr txBox="1"/>
          <p:nvPr/>
        </p:nvSpPr>
        <p:spPr>
          <a:xfrm>
            <a:off x="4800600" y="3590466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2" name="Text 34"/>
          <p:cNvSpPr txBox="1"/>
          <p:nvPr/>
        </p:nvSpPr>
        <p:spPr>
          <a:xfrm>
            <a:off x="5303520" y="3523401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Research &amp; Publication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References &amp; citations</a:t>
            </a:r>
          </a:p>
        </p:txBody>
      </p:sp>
      <p:sp>
        <p:nvSpPr>
          <p:cNvPr id="73" name="Shape 35"/>
          <p:cNvSpPr/>
          <p:nvPr/>
        </p:nvSpPr>
        <p:spPr>
          <a:xfrm>
            <a:off x="4754879" y="4160520"/>
            <a:ext cx="384049" cy="347473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36"/>
          <p:cNvSpPr txBox="1"/>
          <p:nvPr/>
        </p:nvSpPr>
        <p:spPr>
          <a:xfrm>
            <a:off x="4800600" y="4221402"/>
            <a:ext cx="29260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5" name="Text 37"/>
          <p:cNvSpPr txBox="1"/>
          <p:nvPr/>
        </p:nvSpPr>
        <p:spPr>
          <a:xfrm>
            <a:off x="5303520" y="4154337"/>
            <a:ext cx="3291840" cy="3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rPr b="0" sz="900">
                <a:solidFill>
                  <a:srgbClr val="8899BB"/>
                </a:solidFill>
              </a:rPr>
              <a:t>Summary &amp;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79" name="Shape 2"/>
          <p:cNvSpPr/>
          <p:nvPr/>
        </p:nvSpPr>
        <p:spPr>
          <a:xfrm>
            <a:off x="320040" y="960119"/>
            <a:ext cx="4114801" cy="3749042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Text 3"/>
          <p:cNvSpPr txBox="1"/>
          <p:nvPr/>
        </p:nvSpPr>
        <p:spPr>
          <a:xfrm>
            <a:off x="548639" y="1118301"/>
            <a:ext cx="365760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00C2B8"/>
                </a:solidFill>
              </a:defRPr>
            </a:lvl1pPr>
          </a:lstStyle>
          <a:p>
            <a:pPr/>
            <a:r>
              <a:t>What is Pulse AI?</a:t>
            </a:r>
          </a:p>
        </p:txBody>
      </p:sp>
      <p:sp>
        <p:nvSpPr>
          <p:cNvPr id="81" name="Text 4"/>
          <p:cNvSpPr txBox="1"/>
          <p:nvPr/>
        </p:nvSpPr>
        <p:spPr>
          <a:xfrm>
            <a:off x="548639" y="1845617"/>
            <a:ext cx="3657601" cy="2343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E8F0FF"/>
                </a:solidFill>
              </a:defRPr>
            </a:pPr>
            <a:r>
              <a:t>Pulse AI is a web-based Clinical Decision Support System (CDSS) that assists physicians in assessing cardiovascular risk.</a:t>
            </a:r>
          </a:p>
          <a:p>
            <a:pPr>
              <a:defRPr sz="1200">
                <a:solidFill>
                  <a:srgbClr val="E8F0FF"/>
                </a:solidFill>
              </a:defRPr>
            </a:pPr>
            <a:r>
              <a:t> </a:t>
            </a:r>
          </a:p>
          <a:p>
            <a:pPr>
              <a:defRPr sz="1200">
                <a:solidFill>
                  <a:srgbClr val="E8F0FF"/>
                </a:solidFill>
              </a:defRPr>
            </a:pPr>
            <a:r>
              <a:t>A doctor enters 13 standard patient vitals — and within seconds, the AI returns:</a:t>
            </a:r>
          </a:p>
          <a:p>
            <a:pPr>
              <a:defRPr sz="1200">
                <a:solidFill>
                  <a:srgbClr val="E8F0FF"/>
                </a:solidFill>
              </a:defRPr>
            </a:pPr>
            <a:r>
              <a:t> 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E8F0FF"/>
                </a:solidFill>
              </a:defRPr>
            </a:pPr>
            <a:r>
              <a:t>A 0–100% cardiac risk score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E8F0FF"/>
                </a:solidFill>
              </a:defRPr>
            </a:pPr>
            <a:r>
              <a:t>SHAP-based explainability (why this score)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E8F0FF"/>
                </a:solidFill>
              </a:defRPr>
            </a:pPr>
            <a:r>
              <a:t>Personalized diet, exercise &amp; clinical action plan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E8F0FF"/>
                </a:solidFill>
              </a:defRPr>
            </a:pPr>
            <a:r>
              <a:t>Downloadable professional PDF report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E8F0FF"/>
                </a:solidFill>
              </a:defRPr>
            </a:pPr>
            <a:r>
              <a:t>Session history for case management</a:t>
            </a:r>
          </a:p>
        </p:txBody>
      </p:sp>
      <p:sp>
        <p:nvSpPr>
          <p:cNvPr id="82" name="Shape 5"/>
          <p:cNvSpPr/>
          <p:nvPr/>
        </p:nvSpPr>
        <p:spPr>
          <a:xfrm>
            <a:off x="4709159" y="960119"/>
            <a:ext cx="4069081" cy="3749042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" name="Text 6"/>
          <p:cNvSpPr txBox="1"/>
          <p:nvPr/>
        </p:nvSpPr>
        <p:spPr>
          <a:xfrm>
            <a:off x="4937760" y="1118301"/>
            <a:ext cx="35661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E63946"/>
                </a:solidFill>
              </a:defRPr>
            </a:lvl1pPr>
          </a:lstStyle>
          <a:p>
            <a:pPr/>
            <a:r>
              <a:t>Key Facts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4846320" y="149072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🫀</a:t>
            </a:r>
          </a:p>
        </p:txBody>
      </p:sp>
      <p:sp>
        <p:nvSpPr>
          <p:cNvPr id="85" name="Text 8"/>
          <p:cNvSpPr txBox="1"/>
          <p:nvPr/>
        </p:nvSpPr>
        <p:spPr>
          <a:xfrm>
            <a:off x="5257800" y="1569642"/>
            <a:ext cx="3291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Target Disease: </a:t>
            </a:r>
            <a:r>
              <a:rPr b="0">
                <a:solidFill>
                  <a:srgbClr val="E8F0FF"/>
                </a:solidFill>
              </a:rPr>
              <a:t>Cardiovascular Heart Disease</a:t>
            </a:r>
          </a:p>
        </p:txBody>
      </p:sp>
      <p:sp>
        <p:nvSpPr>
          <p:cNvPr id="86" name="Text 9"/>
          <p:cNvSpPr txBox="1"/>
          <p:nvPr/>
        </p:nvSpPr>
        <p:spPr>
          <a:xfrm>
            <a:off x="4846320" y="190220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</a:t>
            </a:r>
          </a:p>
        </p:txBody>
      </p:sp>
      <p:sp>
        <p:nvSpPr>
          <p:cNvPr id="87" name="Text 10"/>
          <p:cNvSpPr txBox="1"/>
          <p:nvPr/>
        </p:nvSpPr>
        <p:spPr>
          <a:xfrm>
            <a:off x="5257800" y="1981121"/>
            <a:ext cx="32918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Dataset: </a:t>
            </a:r>
            <a:r>
              <a:rPr b="0">
                <a:solidFill>
                  <a:srgbClr val="E8F0FF"/>
                </a:solidFill>
              </a:rPr>
              <a:t>UCI Heart Disease (303 records)</a:t>
            </a:r>
          </a:p>
        </p:txBody>
      </p:sp>
      <p:sp>
        <p:nvSpPr>
          <p:cNvPr id="88" name="Text 11"/>
          <p:cNvSpPr txBox="1"/>
          <p:nvPr/>
        </p:nvSpPr>
        <p:spPr>
          <a:xfrm>
            <a:off x="4846320" y="231368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</a:t>
            </a:r>
          </a:p>
        </p:txBody>
      </p:sp>
      <p:sp>
        <p:nvSpPr>
          <p:cNvPr id="89" name="Text 12"/>
          <p:cNvSpPr txBox="1"/>
          <p:nvPr/>
        </p:nvSpPr>
        <p:spPr>
          <a:xfrm>
            <a:off x="5257800" y="2392602"/>
            <a:ext cx="3291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Core Model: </a:t>
            </a:r>
            <a:r>
              <a:rPr b="0">
                <a:solidFill>
                  <a:srgbClr val="E8F0FF"/>
                </a:solidFill>
              </a:rPr>
              <a:t>Random Forest Classifier</a:t>
            </a:r>
          </a:p>
        </p:txBody>
      </p:sp>
      <p:sp>
        <p:nvSpPr>
          <p:cNvPr id="90" name="Text 13"/>
          <p:cNvSpPr txBox="1"/>
          <p:nvPr/>
        </p:nvSpPr>
        <p:spPr>
          <a:xfrm>
            <a:off x="4846320" y="272516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🧠</a:t>
            </a:r>
          </a:p>
        </p:txBody>
      </p:sp>
      <p:sp>
        <p:nvSpPr>
          <p:cNvPr id="91" name="Text 14"/>
          <p:cNvSpPr txBox="1"/>
          <p:nvPr/>
        </p:nvSpPr>
        <p:spPr>
          <a:xfrm>
            <a:off x="5257800" y="2804082"/>
            <a:ext cx="3291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Explainability: </a:t>
            </a:r>
            <a:r>
              <a:rPr b="0">
                <a:solidFill>
                  <a:srgbClr val="E8F0FF"/>
                </a:solidFill>
              </a:rPr>
              <a:t>SHAP TreeExplainer (XAI)</a:t>
            </a:r>
          </a:p>
        </p:txBody>
      </p:sp>
      <p:sp>
        <p:nvSpPr>
          <p:cNvPr id="92" name="Text 15"/>
          <p:cNvSpPr txBox="1"/>
          <p:nvPr/>
        </p:nvSpPr>
        <p:spPr>
          <a:xfrm>
            <a:off x="4846320" y="313664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🔬</a:t>
            </a:r>
          </a:p>
        </p:txBody>
      </p:sp>
      <p:sp>
        <p:nvSpPr>
          <p:cNvPr id="93" name="Text 16"/>
          <p:cNvSpPr txBox="1"/>
          <p:nvPr/>
        </p:nvSpPr>
        <p:spPr>
          <a:xfrm>
            <a:off x="5257800" y="3215561"/>
            <a:ext cx="32918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Generative AI: </a:t>
            </a:r>
            <a:r>
              <a:rPr b="0">
                <a:solidFill>
                  <a:srgbClr val="E8F0FF"/>
                </a:solidFill>
              </a:rPr>
              <a:t>CTGAN + TVAE (SDV)</a:t>
            </a:r>
          </a:p>
        </p:txBody>
      </p:sp>
      <p:sp>
        <p:nvSpPr>
          <p:cNvPr id="94" name="Text 17"/>
          <p:cNvSpPr txBox="1"/>
          <p:nvPr/>
        </p:nvSpPr>
        <p:spPr>
          <a:xfrm>
            <a:off x="4846320" y="354812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📄</a:t>
            </a:r>
          </a:p>
        </p:txBody>
      </p:sp>
      <p:sp>
        <p:nvSpPr>
          <p:cNvPr id="95" name="Text 18"/>
          <p:cNvSpPr txBox="1"/>
          <p:nvPr/>
        </p:nvSpPr>
        <p:spPr>
          <a:xfrm>
            <a:off x="5257800" y="3627041"/>
            <a:ext cx="32918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Report Engine: </a:t>
            </a:r>
            <a:r>
              <a:rPr b="0">
                <a:solidFill>
                  <a:srgbClr val="E8F0FF"/>
                </a:solidFill>
              </a:rPr>
              <a:t>ReportLab PDF Generation</a:t>
            </a:r>
          </a:p>
        </p:txBody>
      </p:sp>
      <p:sp>
        <p:nvSpPr>
          <p:cNvPr id="96" name="Text 19"/>
          <p:cNvSpPr txBox="1"/>
          <p:nvPr/>
        </p:nvSpPr>
        <p:spPr>
          <a:xfrm>
            <a:off x="4846320" y="3959606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🔒</a:t>
            </a:r>
          </a:p>
        </p:txBody>
      </p:sp>
      <p:sp>
        <p:nvSpPr>
          <p:cNvPr id="97" name="Text 20"/>
          <p:cNvSpPr txBox="1"/>
          <p:nvPr/>
        </p:nvSpPr>
        <p:spPr>
          <a:xfrm>
            <a:off x="5257800" y="4038522"/>
            <a:ext cx="3291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Privacy: </a:t>
            </a:r>
            <a:r>
              <a:rPr b="0">
                <a:solidFill>
                  <a:srgbClr val="E8F0FF"/>
                </a:solidFill>
              </a:rPr>
              <a:t>No cloud — fully local</a:t>
            </a:r>
          </a:p>
        </p:txBody>
      </p:sp>
      <p:sp>
        <p:nvSpPr>
          <p:cNvPr id="98" name="Text 21"/>
          <p:cNvSpPr txBox="1"/>
          <p:nvPr/>
        </p:nvSpPr>
        <p:spPr>
          <a:xfrm>
            <a:off x="4846320" y="4371085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🌱</a:t>
            </a:r>
          </a:p>
        </p:txBody>
      </p:sp>
      <p:sp>
        <p:nvSpPr>
          <p:cNvPr id="99" name="Text 22"/>
          <p:cNvSpPr txBox="1"/>
          <p:nvPr/>
        </p:nvSpPr>
        <p:spPr>
          <a:xfrm>
            <a:off x="5257800" y="4450002"/>
            <a:ext cx="3291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Dietary Protocol: </a:t>
            </a:r>
            <a:r>
              <a:rPr b="0">
                <a:solidFill>
                  <a:srgbClr val="E8F0FF"/>
                </a:solidFill>
              </a:rPr>
              <a:t>100% Vegan-Optimized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03" name="Shape 2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3"/>
          <p:cNvSpPr txBox="1"/>
          <p:nvPr/>
        </p:nvSpPr>
        <p:spPr>
          <a:xfrm>
            <a:off x="548639" y="980003"/>
            <a:ext cx="8138161" cy="78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17.9 Million</a:t>
            </a:r>
            <a:r>
              <a:rPr b="0" sz="1600">
                <a:solidFill>
                  <a:srgbClr val="E8F0FF"/>
                </a:solidFill>
              </a:rPr>
              <a:t>  people die from cardiovascular diseases every year — the #1 global cause of death  (WHO, 2025)</a:t>
            </a:r>
          </a:p>
        </p:txBody>
      </p:sp>
      <p:sp>
        <p:nvSpPr>
          <p:cNvPr id="105" name="Shape 4"/>
          <p:cNvSpPr/>
          <p:nvPr/>
        </p:nvSpPr>
        <p:spPr>
          <a:xfrm>
            <a:off x="320040" y="2103120"/>
            <a:ext cx="2743201" cy="26060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5"/>
          <p:cNvSpPr/>
          <p:nvPr/>
        </p:nvSpPr>
        <p:spPr>
          <a:xfrm>
            <a:off x="320040" y="2103120"/>
            <a:ext cx="2743201" cy="64009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6"/>
          <p:cNvSpPr txBox="1"/>
          <p:nvPr/>
        </p:nvSpPr>
        <p:spPr>
          <a:xfrm>
            <a:off x="365760" y="2222499"/>
            <a:ext cx="26517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2800"/>
            </a:pPr>
            <a:r>
              <a:t>⏱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️</a:t>
            </a:r>
          </a:p>
        </p:txBody>
      </p:sp>
      <p:sp>
        <p:nvSpPr>
          <p:cNvPr id="108" name="Text 7"/>
          <p:cNvSpPr txBox="1"/>
          <p:nvPr/>
        </p:nvSpPr>
        <p:spPr>
          <a:xfrm>
            <a:off x="457200" y="2758248"/>
            <a:ext cx="2468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E63946"/>
                </a:solidFill>
              </a:defRPr>
            </a:lvl1pPr>
          </a:lstStyle>
          <a:p>
            <a:pPr/>
            <a:r>
              <a:t>Late Detection</a:t>
            </a:r>
          </a:p>
        </p:txBody>
      </p:sp>
      <p:sp>
        <p:nvSpPr>
          <p:cNvPr id="109" name="Text 8"/>
          <p:cNvSpPr txBox="1"/>
          <p:nvPr/>
        </p:nvSpPr>
        <p:spPr>
          <a:xfrm>
            <a:off x="457200" y="3478574"/>
            <a:ext cx="246888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Most heart disease is detected too late — when symptoms are already severe. Early-stage indicators are subtle and easy to miss during routine checkups.</a:t>
            </a:r>
          </a:p>
        </p:txBody>
      </p:sp>
      <p:sp>
        <p:nvSpPr>
          <p:cNvPr id="110" name="Shape 9"/>
          <p:cNvSpPr/>
          <p:nvPr/>
        </p:nvSpPr>
        <p:spPr>
          <a:xfrm>
            <a:off x="3246120" y="2103120"/>
            <a:ext cx="2743201" cy="26060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Shape 10"/>
          <p:cNvSpPr/>
          <p:nvPr/>
        </p:nvSpPr>
        <p:spPr>
          <a:xfrm>
            <a:off x="3246120" y="2103120"/>
            <a:ext cx="2743201" cy="64009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1"/>
          <p:cNvSpPr txBox="1"/>
          <p:nvPr/>
        </p:nvSpPr>
        <p:spPr>
          <a:xfrm>
            <a:off x="3291840" y="2165349"/>
            <a:ext cx="2651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👨‍⚕️</a:t>
            </a:r>
          </a:p>
        </p:txBody>
      </p:sp>
      <p:sp>
        <p:nvSpPr>
          <p:cNvPr id="113" name="Text 12"/>
          <p:cNvSpPr txBox="1"/>
          <p:nvPr/>
        </p:nvSpPr>
        <p:spPr>
          <a:xfrm>
            <a:off x="3383279" y="2758248"/>
            <a:ext cx="24688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E63946"/>
                </a:solidFill>
              </a:defRPr>
            </a:lvl1pPr>
          </a:lstStyle>
          <a:p>
            <a:pPr/>
            <a:r>
              <a:t>Physician Overload</a:t>
            </a:r>
          </a:p>
        </p:txBody>
      </p:sp>
      <p:sp>
        <p:nvSpPr>
          <p:cNvPr id="114" name="Text 13"/>
          <p:cNvSpPr txBox="1"/>
          <p:nvPr/>
        </p:nvSpPr>
        <p:spPr>
          <a:xfrm>
            <a:off x="3383279" y="3478574"/>
            <a:ext cx="2468882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Cardiologists are overwhelmed. Routine cases occupy time that should go to complex ones. Pattern recognition from 13 vitals is tedious and error-prone at scale.</a:t>
            </a:r>
          </a:p>
        </p:txBody>
      </p:sp>
      <p:sp>
        <p:nvSpPr>
          <p:cNvPr id="115" name="Shape 14"/>
          <p:cNvSpPr/>
          <p:nvPr/>
        </p:nvSpPr>
        <p:spPr>
          <a:xfrm>
            <a:off x="6172200" y="2103120"/>
            <a:ext cx="2743200" cy="26060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Shape 15"/>
          <p:cNvSpPr/>
          <p:nvPr/>
        </p:nvSpPr>
        <p:spPr>
          <a:xfrm>
            <a:off x="6172200" y="2103120"/>
            <a:ext cx="2743200" cy="64009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6"/>
          <p:cNvSpPr txBox="1"/>
          <p:nvPr/>
        </p:nvSpPr>
        <p:spPr>
          <a:xfrm>
            <a:off x="6217920" y="2165349"/>
            <a:ext cx="2651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🔭</a:t>
            </a:r>
          </a:p>
        </p:txBody>
      </p:sp>
      <p:sp>
        <p:nvSpPr>
          <p:cNvPr id="118" name="Text 17"/>
          <p:cNvSpPr txBox="1"/>
          <p:nvPr/>
        </p:nvSpPr>
        <p:spPr>
          <a:xfrm>
            <a:off x="6309360" y="2758248"/>
            <a:ext cx="2468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E63946"/>
                </a:solidFill>
              </a:defRPr>
            </a:lvl1pPr>
          </a:lstStyle>
          <a:p>
            <a:pPr/>
            <a:r>
              <a:t>No Explainability</a:t>
            </a:r>
          </a:p>
        </p:txBody>
      </p:sp>
      <p:sp>
        <p:nvSpPr>
          <p:cNvPr id="119" name="Text 18"/>
          <p:cNvSpPr txBox="1"/>
          <p:nvPr/>
        </p:nvSpPr>
        <p:spPr>
          <a:xfrm>
            <a:off x="6309360" y="3478574"/>
            <a:ext cx="246888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Existing AI tools are black-boxes. Doctors cannot trust or defend a prediction they don't understand — violating clinical accountability standards.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899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Existing Solutions</a:t>
            </a:r>
          </a:p>
        </p:txBody>
      </p:sp>
      <p:sp>
        <p:nvSpPr>
          <p:cNvPr id="123" name="Shape 2"/>
          <p:cNvSpPr/>
          <p:nvPr/>
        </p:nvSpPr>
        <p:spPr>
          <a:xfrm>
            <a:off x="320040" y="960119"/>
            <a:ext cx="8503920" cy="822962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Shape 3"/>
          <p:cNvSpPr/>
          <p:nvPr/>
        </p:nvSpPr>
        <p:spPr>
          <a:xfrm>
            <a:off x="320040" y="960119"/>
            <a:ext cx="1828801" cy="822962"/>
          </a:xfrm>
          <a:prstGeom prst="rect">
            <a:avLst/>
          </a:prstGeom>
          <a:solidFill>
            <a:srgbClr val="12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4"/>
          <p:cNvSpPr txBox="1"/>
          <p:nvPr/>
        </p:nvSpPr>
        <p:spPr>
          <a:xfrm>
            <a:off x="457200" y="107446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0C2B8"/>
                </a:solidFill>
              </a:defRPr>
            </a:lvl1pPr>
          </a:lstStyle>
          <a:p>
            <a:pPr/>
            <a:r>
              <a:t>Framingham Risk Score</a:t>
            </a:r>
          </a:p>
        </p:txBody>
      </p:sp>
      <p:sp>
        <p:nvSpPr>
          <p:cNvPr id="126" name="Text 5"/>
          <p:cNvSpPr txBox="1"/>
          <p:nvPr/>
        </p:nvSpPr>
        <p:spPr>
          <a:xfrm>
            <a:off x="457200" y="1419519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Statistical scoring (1998)</a:t>
            </a:r>
          </a:p>
        </p:txBody>
      </p:sp>
      <p:sp>
        <p:nvSpPr>
          <p:cNvPr id="127" name="Text 6"/>
          <p:cNvSpPr txBox="1"/>
          <p:nvPr/>
        </p:nvSpPr>
        <p:spPr>
          <a:xfrm>
            <a:off x="2331719" y="1057910"/>
            <a:ext cx="29260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00C060"/>
                </a:solidFill>
              </a:defRPr>
            </a:pPr>
            <a:r>
              <a:t>✅ </a:t>
            </a:r>
            <a:r>
              <a:rPr>
                <a:solidFill>
                  <a:srgbClr val="E8F0FF"/>
                </a:solidFill>
              </a:rPr>
              <a:t>Simple to use</a:t>
            </a:r>
          </a:p>
        </p:txBody>
      </p:sp>
      <p:sp>
        <p:nvSpPr>
          <p:cNvPr id="128" name="Text 7"/>
          <p:cNvSpPr txBox="1"/>
          <p:nvPr/>
        </p:nvSpPr>
        <p:spPr>
          <a:xfrm>
            <a:off x="2331719" y="1387093"/>
            <a:ext cx="621792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E63946"/>
                </a:solidFill>
              </a:defRPr>
            </a:pPr>
            <a:r>
              <a:t>❌ </a:t>
            </a:r>
            <a:r>
              <a:rPr>
                <a:solidFill>
                  <a:srgbClr val="E8F0FF"/>
                </a:solidFill>
              </a:rPr>
              <a:t>No ML. No explainability. Outdated coefficients. Cannot handle multi-feature interactions.</a:t>
            </a:r>
          </a:p>
        </p:txBody>
      </p:sp>
      <p:sp>
        <p:nvSpPr>
          <p:cNvPr id="129" name="Shape 8"/>
          <p:cNvSpPr/>
          <p:nvPr/>
        </p:nvSpPr>
        <p:spPr>
          <a:xfrm>
            <a:off x="320040" y="1920239"/>
            <a:ext cx="8503920" cy="8229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Shape 9"/>
          <p:cNvSpPr/>
          <p:nvPr/>
        </p:nvSpPr>
        <p:spPr>
          <a:xfrm>
            <a:off x="320040" y="1920239"/>
            <a:ext cx="1828801" cy="822961"/>
          </a:xfrm>
          <a:prstGeom prst="rect">
            <a:avLst/>
          </a:prstGeom>
          <a:solidFill>
            <a:srgbClr val="12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0"/>
          <p:cNvSpPr txBox="1"/>
          <p:nvPr/>
        </p:nvSpPr>
        <p:spPr>
          <a:xfrm>
            <a:off x="457200" y="203458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0C2B8"/>
                </a:solidFill>
              </a:defRPr>
            </a:lvl1pPr>
          </a:lstStyle>
          <a:p>
            <a:pPr/>
            <a:r>
              <a:t>AHA PREVENT™ Calculator</a:t>
            </a:r>
          </a:p>
        </p:txBody>
      </p:sp>
      <p:sp>
        <p:nvSpPr>
          <p:cNvPr id="132" name="Text 11"/>
          <p:cNvSpPr txBox="1"/>
          <p:nvPr/>
        </p:nvSpPr>
        <p:spPr>
          <a:xfrm>
            <a:off x="457200" y="2379639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Guideline-based tool</a:t>
            </a:r>
          </a:p>
        </p:txBody>
      </p:sp>
      <p:sp>
        <p:nvSpPr>
          <p:cNvPr id="133" name="Text 12"/>
          <p:cNvSpPr txBox="1"/>
          <p:nvPr/>
        </p:nvSpPr>
        <p:spPr>
          <a:xfrm>
            <a:off x="2331719" y="2018029"/>
            <a:ext cx="29260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00C060"/>
                </a:solidFill>
              </a:defRPr>
            </a:pPr>
            <a:r>
              <a:t>✅ </a:t>
            </a:r>
            <a:r>
              <a:rPr>
                <a:solidFill>
                  <a:srgbClr val="E8F0FF"/>
                </a:solidFill>
              </a:rPr>
              <a:t>Clinical credibility</a:t>
            </a:r>
          </a:p>
        </p:txBody>
      </p:sp>
      <p:sp>
        <p:nvSpPr>
          <p:cNvPr id="134" name="Text 13"/>
          <p:cNvSpPr txBox="1"/>
          <p:nvPr/>
        </p:nvSpPr>
        <p:spPr>
          <a:xfrm>
            <a:off x="2331719" y="2347214"/>
            <a:ext cx="621792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E63946"/>
                </a:solidFill>
              </a:defRPr>
            </a:pPr>
            <a:r>
              <a:t>❌ </a:t>
            </a:r>
            <a:r>
              <a:rPr>
                <a:solidFill>
                  <a:srgbClr val="E8F0FF"/>
                </a:solidFill>
              </a:rPr>
              <a:t>No XAI. Limited to population-level stats. Not personalized.</a:t>
            </a:r>
          </a:p>
        </p:txBody>
      </p:sp>
      <p:sp>
        <p:nvSpPr>
          <p:cNvPr id="135" name="Shape 14"/>
          <p:cNvSpPr/>
          <p:nvPr/>
        </p:nvSpPr>
        <p:spPr>
          <a:xfrm>
            <a:off x="320040" y="2880360"/>
            <a:ext cx="8503920" cy="8229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Shape 15"/>
          <p:cNvSpPr/>
          <p:nvPr/>
        </p:nvSpPr>
        <p:spPr>
          <a:xfrm>
            <a:off x="320040" y="2880360"/>
            <a:ext cx="1828801" cy="822961"/>
          </a:xfrm>
          <a:prstGeom prst="rect">
            <a:avLst/>
          </a:prstGeom>
          <a:solidFill>
            <a:srgbClr val="12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6"/>
          <p:cNvSpPr txBox="1"/>
          <p:nvPr/>
        </p:nvSpPr>
        <p:spPr>
          <a:xfrm>
            <a:off x="457200" y="299470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0C2B8"/>
                </a:solidFill>
              </a:defRPr>
            </a:lvl1pPr>
          </a:lstStyle>
          <a:p>
            <a:pPr/>
            <a:r>
              <a:t>IBM Watson Health</a:t>
            </a:r>
          </a:p>
        </p:txBody>
      </p:sp>
      <p:sp>
        <p:nvSpPr>
          <p:cNvPr id="138" name="Text 17"/>
          <p:cNvSpPr txBox="1"/>
          <p:nvPr/>
        </p:nvSpPr>
        <p:spPr>
          <a:xfrm>
            <a:off x="457200" y="3339759"/>
            <a:ext cx="15544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Enterprise-grade AI CDSS</a:t>
            </a:r>
          </a:p>
        </p:txBody>
      </p:sp>
      <p:sp>
        <p:nvSpPr>
          <p:cNvPr id="139" name="Text 18"/>
          <p:cNvSpPr txBox="1"/>
          <p:nvPr/>
        </p:nvSpPr>
        <p:spPr>
          <a:xfrm>
            <a:off x="2331719" y="2978150"/>
            <a:ext cx="29260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00C060"/>
                </a:solidFill>
              </a:defRPr>
            </a:pPr>
            <a:r>
              <a:t>✅ </a:t>
            </a:r>
            <a:r>
              <a:rPr>
                <a:solidFill>
                  <a:srgbClr val="E8F0FF"/>
                </a:solidFill>
              </a:rPr>
              <a:t>Powerful &amp; comprehensive</a:t>
            </a:r>
          </a:p>
        </p:txBody>
      </p:sp>
      <p:sp>
        <p:nvSpPr>
          <p:cNvPr id="140" name="Text 19"/>
          <p:cNvSpPr txBox="1"/>
          <p:nvPr/>
        </p:nvSpPr>
        <p:spPr>
          <a:xfrm>
            <a:off x="2331719" y="3307334"/>
            <a:ext cx="621792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E63946"/>
                </a:solidFill>
              </a:defRPr>
            </a:pPr>
            <a:r>
              <a:t>❌ </a:t>
            </a:r>
            <a:r>
              <a:rPr>
                <a:solidFill>
                  <a:srgbClr val="E8F0FF"/>
                </a:solidFill>
              </a:rPr>
              <a:t>Extremely costly, proprietary, requires hospital-grade IT infrastructure.</a:t>
            </a:r>
          </a:p>
        </p:txBody>
      </p:sp>
      <p:sp>
        <p:nvSpPr>
          <p:cNvPr id="141" name="Shape 20"/>
          <p:cNvSpPr/>
          <p:nvPr/>
        </p:nvSpPr>
        <p:spPr>
          <a:xfrm>
            <a:off x="320040" y="3840479"/>
            <a:ext cx="8503920" cy="8229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Shape 21"/>
          <p:cNvSpPr/>
          <p:nvPr/>
        </p:nvSpPr>
        <p:spPr>
          <a:xfrm>
            <a:off x="320040" y="3840479"/>
            <a:ext cx="1828801" cy="822961"/>
          </a:xfrm>
          <a:prstGeom prst="rect">
            <a:avLst/>
          </a:prstGeom>
          <a:solidFill>
            <a:srgbClr val="12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22"/>
          <p:cNvSpPr txBox="1"/>
          <p:nvPr/>
        </p:nvSpPr>
        <p:spPr>
          <a:xfrm>
            <a:off x="457200" y="395482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0C2B8"/>
                </a:solidFill>
              </a:defRPr>
            </a:lvl1pPr>
          </a:lstStyle>
          <a:p>
            <a:pPr/>
            <a:r>
              <a:t>Generic Kaggle Models</a:t>
            </a:r>
          </a:p>
        </p:txBody>
      </p:sp>
      <p:sp>
        <p:nvSpPr>
          <p:cNvPr id="144" name="Text 23"/>
          <p:cNvSpPr txBox="1"/>
          <p:nvPr/>
        </p:nvSpPr>
        <p:spPr>
          <a:xfrm>
            <a:off x="457200" y="4299879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Academic ML prototypes</a:t>
            </a:r>
          </a:p>
        </p:txBody>
      </p:sp>
      <p:sp>
        <p:nvSpPr>
          <p:cNvPr id="145" name="Text 24"/>
          <p:cNvSpPr txBox="1"/>
          <p:nvPr/>
        </p:nvSpPr>
        <p:spPr>
          <a:xfrm>
            <a:off x="2331719" y="3938270"/>
            <a:ext cx="29260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00C060"/>
                </a:solidFill>
              </a:defRPr>
            </a:pPr>
            <a:r>
              <a:t>✅ </a:t>
            </a:r>
            <a:r>
              <a:rPr>
                <a:solidFill>
                  <a:srgbClr val="E8F0FF"/>
                </a:solidFill>
              </a:rPr>
              <a:t>Free, educational</a:t>
            </a:r>
          </a:p>
        </p:txBody>
      </p:sp>
      <p:sp>
        <p:nvSpPr>
          <p:cNvPr id="146" name="Text 25"/>
          <p:cNvSpPr txBox="1"/>
          <p:nvPr/>
        </p:nvSpPr>
        <p:spPr>
          <a:xfrm>
            <a:off x="2331719" y="4267453"/>
            <a:ext cx="621792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E63946"/>
                </a:solidFill>
              </a:defRPr>
            </a:pPr>
            <a:r>
              <a:t>❌ </a:t>
            </a:r>
            <a:r>
              <a:rPr>
                <a:solidFill>
                  <a:srgbClr val="E8F0FF"/>
                </a:solidFill>
              </a:rPr>
              <a:t>No UI. No explainability. No recommendations. Not deployment-ready.</a:t>
            </a:r>
          </a:p>
        </p:txBody>
      </p:sp>
      <p:sp>
        <p:nvSpPr>
          <p:cNvPr id="147" name="Shape 26"/>
          <p:cNvSpPr/>
          <p:nvPr/>
        </p:nvSpPr>
        <p:spPr>
          <a:xfrm>
            <a:off x="320040" y="4663440"/>
            <a:ext cx="8503920" cy="329185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27"/>
          <p:cNvSpPr txBox="1"/>
          <p:nvPr/>
        </p:nvSpPr>
        <p:spPr>
          <a:xfrm>
            <a:off x="502919" y="4703879"/>
            <a:ext cx="8138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0B1D3A"/>
                </a:solidFill>
              </a:defRPr>
            </a:lvl1pPr>
          </a:lstStyle>
          <a:p>
            <a:pPr/>
            <a:r>
              <a:t>Gap: No free, explainable, personalized, deployment-ready CDSS exists — Pulse AI fills this gap.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152" name="Text 2"/>
          <p:cNvSpPr txBox="1"/>
          <p:nvPr/>
        </p:nvSpPr>
        <p:spPr>
          <a:xfrm>
            <a:off x="365760" y="931603"/>
            <a:ext cx="841248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00C2B8"/>
                </a:solidFill>
              </a:defRPr>
            </a:lvl1pPr>
          </a:lstStyle>
          <a:p>
            <a:pPr/>
            <a:r>
              <a:t>Pulse AI — A full-stack, explainable, privacy-first Clinical Decision Support System</a:t>
            </a:r>
          </a:p>
        </p:txBody>
      </p:sp>
      <p:sp>
        <p:nvSpPr>
          <p:cNvPr id="153" name="Shape 3"/>
          <p:cNvSpPr/>
          <p:nvPr/>
        </p:nvSpPr>
        <p:spPr>
          <a:xfrm>
            <a:off x="320039" y="1417319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Shape 4"/>
          <p:cNvSpPr/>
          <p:nvPr/>
        </p:nvSpPr>
        <p:spPr>
          <a:xfrm>
            <a:off x="320040" y="1417319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5"/>
          <p:cNvSpPr txBox="1"/>
          <p:nvPr/>
        </p:nvSpPr>
        <p:spPr>
          <a:xfrm>
            <a:off x="475487" y="1569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</a:t>
            </a:r>
          </a:p>
        </p:txBody>
      </p:sp>
      <p:sp>
        <p:nvSpPr>
          <p:cNvPr id="156" name="Text 6"/>
          <p:cNvSpPr txBox="1"/>
          <p:nvPr/>
        </p:nvSpPr>
        <p:spPr>
          <a:xfrm>
            <a:off x="1051560" y="1553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ML Prediction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1051560" y="1915458"/>
            <a:ext cx="329184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Random Forest on 13 UCI features with 83.6% real-world accuracy</a:t>
            </a:r>
          </a:p>
        </p:txBody>
      </p:sp>
      <p:sp>
        <p:nvSpPr>
          <p:cNvPr id="158" name="Shape 8"/>
          <p:cNvSpPr/>
          <p:nvPr/>
        </p:nvSpPr>
        <p:spPr>
          <a:xfrm>
            <a:off x="4754879" y="1417319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Shape 9"/>
          <p:cNvSpPr/>
          <p:nvPr/>
        </p:nvSpPr>
        <p:spPr>
          <a:xfrm>
            <a:off x="4754879" y="1417319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0"/>
          <p:cNvSpPr txBox="1"/>
          <p:nvPr/>
        </p:nvSpPr>
        <p:spPr>
          <a:xfrm>
            <a:off x="4910328" y="1569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🧠</a:t>
            </a:r>
          </a:p>
        </p:txBody>
      </p:sp>
      <p:sp>
        <p:nvSpPr>
          <p:cNvPr id="161" name="Text 11"/>
          <p:cNvSpPr txBox="1"/>
          <p:nvPr/>
        </p:nvSpPr>
        <p:spPr>
          <a:xfrm>
            <a:off x="5486400" y="1553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SHAP Explainability</a:t>
            </a:r>
          </a:p>
        </p:txBody>
      </p:sp>
      <p:sp>
        <p:nvSpPr>
          <p:cNvPr id="162" name="Text 12"/>
          <p:cNvSpPr txBox="1"/>
          <p:nvPr/>
        </p:nvSpPr>
        <p:spPr>
          <a:xfrm>
            <a:off x="5486400" y="1998008"/>
            <a:ext cx="32918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Per-prediction feature-level explanations via TreeExplainer</a:t>
            </a:r>
          </a:p>
        </p:txBody>
      </p:sp>
      <p:sp>
        <p:nvSpPr>
          <p:cNvPr id="163" name="Shape 13"/>
          <p:cNvSpPr/>
          <p:nvPr/>
        </p:nvSpPr>
        <p:spPr>
          <a:xfrm>
            <a:off x="320039" y="2560320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Shape 14"/>
          <p:cNvSpPr/>
          <p:nvPr/>
        </p:nvSpPr>
        <p:spPr>
          <a:xfrm>
            <a:off x="320040" y="2560320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5"/>
          <p:cNvSpPr txBox="1"/>
          <p:nvPr/>
        </p:nvSpPr>
        <p:spPr>
          <a:xfrm>
            <a:off x="475487" y="2712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🎲</a:t>
            </a:r>
          </a:p>
        </p:txBody>
      </p:sp>
      <p:sp>
        <p:nvSpPr>
          <p:cNvPr id="166" name="Text 16"/>
          <p:cNvSpPr txBox="1"/>
          <p:nvPr/>
        </p:nvSpPr>
        <p:spPr>
          <a:xfrm>
            <a:off x="1051560" y="2696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Generative Simulation</a:t>
            </a:r>
          </a:p>
        </p:txBody>
      </p:sp>
      <p:sp>
        <p:nvSpPr>
          <p:cNvPr id="167" name="Text 17"/>
          <p:cNvSpPr txBox="1"/>
          <p:nvPr/>
        </p:nvSpPr>
        <p:spPr>
          <a:xfrm>
            <a:off x="1051560" y="3141008"/>
            <a:ext cx="32918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Dual CTGAN+TVAE engines for privacy-safe patient simulation</a:t>
            </a:r>
          </a:p>
        </p:txBody>
      </p:sp>
      <p:sp>
        <p:nvSpPr>
          <p:cNvPr id="168" name="Shape 18"/>
          <p:cNvSpPr/>
          <p:nvPr/>
        </p:nvSpPr>
        <p:spPr>
          <a:xfrm>
            <a:off x="4754879" y="2560320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Shape 19"/>
          <p:cNvSpPr/>
          <p:nvPr/>
        </p:nvSpPr>
        <p:spPr>
          <a:xfrm>
            <a:off x="4754879" y="2560320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0"/>
          <p:cNvSpPr txBox="1"/>
          <p:nvPr/>
        </p:nvSpPr>
        <p:spPr>
          <a:xfrm>
            <a:off x="4910328" y="2712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🩺</a:t>
            </a:r>
          </a:p>
        </p:txBody>
      </p:sp>
      <p:sp>
        <p:nvSpPr>
          <p:cNvPr id="171" name="Text 21"/>
          <p:cNvSpPr txBox="1"/>
          <p:nvPr/>
        </p:nvSpPr>
        <p:spPr>
          <a:xfrm>
            <a:off x="5486400" y="2696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Clinical Workflow</a:t>
            </a:r>
          </a:p>
        </p:txBody>
      </p:sp>
      <p:sp>
        <p:nvSpPr>
          <p:cNvPr id="172" name="Text 22"/>
          <p:cNvSpPr txBox="1"/>
          <p:nvPr/>
        </p:nvSpPr>
        <p:spPr>
          <a:xfrm>
            <a:off x="5486400" y="3058458"/>
            <a:ext cx="32918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Login → Intake → Predict → Explain → Recommend → Report → History</a:t>
            </a:r>
          </a:p>
        </p:txBody>
      </p:sp>
      <p:sp>
        <p:nvSpPr>
          <p:cNvPr id="173" name="Shape 23"/>
          <p:cNvSpPr/>
          <p:nvPr/>
        </p:nvSpPr>
        <p:spPr>
          <a:xfrm>
            <a:off x="320039" y="3703320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" name="Shape 24"/>
          <p:cNvSpPr/>
          <p:nvPr/>
        </p:nvSpPr>
        <p:spPr>
          <a:xfrm>
            <a:off x="320040" y="3703320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25"/>
          <p:cNvSpPr txBox="1"/>
          <p:nvPr/>
        </p:nvSpPr>
        <p:spPr>
          <a:xfrm>
            <a:off x="475487" y="3855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🌱</a:t>
            </a:r>
          </a:p>
        </p:txBody>
      </p:sp>
      <p:sp>
        <p:nvSpPr>
          <p:cNvPr id="176" name="Text 26"/>
          <p:cNvSpPr txBox="1"/>
          <p:nvPr/>
        </p:nvSpPr>
        <p:spPr>
          <a:xfrm>
            <a:off x="1051560" y="3839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Vegan Protocols</a:t>
            </a:r>
          </a:p>
        </p:txBody>
      </p:sp>
      <p:sp>
        <p:nvSpPr>
          <p:cNvPr id="177" name="Text 27"/>
          <p:cNvSpPr txBox="1"/>
          <p:nvPr/>
        </p:nvSpPr>
        <p:spPr>
          <a:xfrm>
            <a:off x="1051560" y="4284008"/>
            <a:ext cx="32918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Risk-stratified dietary &amp; exercise plans, all plant-based</a:t>
            </a:r>
          </a:p>
        </p:txBody>
      </p:sp>
      <p:sp>
        <p:nvSpPr>
          <p:cNvPr id="178" name="Shape 28"/>
          <p:cNvSpPr/>
          <p:nvPr/>
        </p:nvSpPr>
        <p:spPr>
          <a:xfrm>
            <a:off x="4754879" y="3703320"/>
            <a:ext cx="4206242" cy="10058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Shape 29"/>
          <p:cNvSpPr/>
          <p:nvPr/>
        </p:nvSpPr>
        <p:spPr>
          <a:xfrm>
            <a:off x="4754879" y="3703320"/>
            <a:ext cx="73153" cy="100584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30"/>
          <p:cNvSpPr txBox="1"/>
          <p:nvPr/>
        </p:nvSpPr>
        <p:spPr>
          <a:xfrm>
            <a:off x="4910328" y="3855719"/>
            <a:ext cx="4114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🔒</a:t>
            </a:r>
          </a:p>
        </p:txBody>
      </p:sp>
      <p:sp>
        <p:nvSpPr>
          <p:cNvPr id="181" name="Text 31"/>
          <p:cNvSpPr txBox="1"/>
          <p:nvPr/>
        </p:nvSpPr>
        <p:spPr>
          <a:xfrm>
            <a:off x="5486400" y="3839394"/>
            <a:ext cx="3291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Privacy-First</a:t>
            </a:r>
          </a:p>
        </p:txBody>
      </p:sp>
      <p:sp>
        <p:nvSpPr>
          <p:cNvPr id="182" name="Text 32"/>
          <p:cNvSpPr txBox="1"/>
          <p:nvPr/>
        </p:nvSpPr>
        <p:spPr>
          <a:xfrm>
            <a:off x="5486400" y="4201458"/>
            <a:ext cx="32918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Zero server-side database. History in browser localStorage only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AC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Models Used</a:t>
            </a:r>
          </a:p>
        </p:txBody>
      </p:sp>
      <p:sp>
        <p:nvSpPr>
          <p:cNvPr id="186" name="Shape 2"/>
          <p:cNvSpPr/>
          <p:nvPr/>
        </p:nvSpPr>
        <p:spPr>
          <a:xfrm>
            <a:off x="320039" y="914400"/>
            <a:ext cx="5303522" cy="2011679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Shape 3"/>
          <p:cNvSpPr/>
          <p:nvPr/>
        </p:nvSpPr>
        <p:spPr>
          <a:xfrm>
            <a:off x="320039" y="914400"/>
            <a:ext cx="5303522" cy="64008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4"/>
          <p:cNvSpPr txBox="1"/>
          <p:nvPr/>
        </p:nvSpPr>
        <p:spPr>
          <a:xfrm>
            <a:off x="502919" y="1019809"/>
            <a:ext cx="49377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00C2B8"/>
                </a:solidFill>
              </a:defRPr>
            </a:lvl1pPr>
          </a:lstStyle>
          <a:p>
            <a:pPr/>
            <a:r>
              <a:t>🌲  Random Forest Classifier  (Core Prediction Model)</a:t>
            </a:r>
          </a:p>
        </p:txBody>
      </p:sp>
      <p:sp>
        <p:nvSpPr>
          <p:cNvPr id="189" name="Text 5"/>
          <p:cNvSpPr txBox="1"/>
          <p:nvPr/>
        </p:nvSpPr>
        <p:spPr>
          <a:xfrm>
            <a:off x="502919" y="1458136"/>
            <a:ext cx="4937761" cy="138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n_estimators: </a:t>
            </a:r>
            <a:r>
              <a:rPr b="0">
                <a:solidFill>
                  <a:srgbClr val="E8F0FF"/>
                </a:solidFill>
              </a:rPr>
              <a:t>100 decision trees</a:t>
            </a:r>
            <a:endParaRPr b="0">
              <a:solidFill>
                <a:srgbClr val="E8F0FF"/>
              </a:solidFill>
            </a:endParaRPr>
          </a:p>
          <a:p>
            <a:pPr>
              <a:defRPr b="1" sz="1100">
                <a:solidFill>
                  <a:srgbClr val="00C2B8"/>
                </a:solidFill>
              </a:defRPr>
            </a:pPr>
          </a:p>
          <a:p>
            <a:pPr>
              <a:defRPr b="1" sz="1100">
                <a:solidFill>
                  <a:srgbClr val="00C2B8"/>
                </a:solidFill>
              </a:defRPr>
            </a:pPr>
            <a:r>
              <a:t>max_depth: </a:t>
            </a:r>
            <a:r>
              <a:rPr b="0">
                <a:solidFill>
                  <a:srgbClr val="E8F0FF"/>
                </a:solidFill>
              </a:rPr>
              <a:t>10  |  </a:t>
            </a:r>
            <a:r>
              <a:t>random_state: </a:t>
            </a:r>
            <a:r>
              <a:rPr b="0">
                <a:solidFill>
                  <a:srgbClr val="E8F0FF"/>
                </a:solidFill>
              </a:rPr>
              <a:t>42</a:t>
            </a:r>
            <a:endParaRPr b="0">
              <a:solidFill>
                <a:srgbClr val="E8F0FF"/>
              </a:solidFill>
            </a:endParaRPr>
          </a:p>
          <a:p>
            <a:pPr>
              <a:defRPr b="1" sz="1100">
                <a:solidFill>
                  <a:srgbClr val="00C2B8"/>
                </a:solidFill>
              </a:defRPr>
            </a:pPr>
          </a:p>
          <a:p>
            <a:pPr>
              <a:defRPr b="1" sz="1100">
                <a:solidFill>
                  <a:srgbClr val="00C2B8"/>
                </a:solidFill>
              </a:defRPr>
            </a:pPr>
            <a:r>
              <a:t>Input: </a:t>
            </a:r>
            <a:r>
              <a:rPr b="0">
                <a:solidFill>
                  <a:srgbClr val="E8F0FF"/>
                </a:solidFill>
              </a:rPr>
              <a:t>13 clinical features (age, sex, cp, trestbps, chol, fbs, restecg, thalach, exang, oldpeak, slope, ca, thal)</a:t>
            </a:r>
            <a:endParaRPr b="0">
              <a:solidFill>
                <a:srgbClr val="E8F0FF"/>
              </a:solidFill>
            </a:endParaRPr>
          </a:p>
          <a:p>
            <a:pPr>
              <a:defRPr b="1" sz="1100">
                <a:solidFill>
                  <a:srgbClr val="00C2B8"/>
                </a:solidFill>
              </a:defRPr>
            </a:pPr>
          </a:p>
          <a:p>
            <a:pPr>
              <a:defRPr b="1" sz="1100">
                <a:solidFill>
                  <a:srgbClr val="00C2B8"/>
                </a:solidFill>
              </a:defRPr>
            </a:pPr>
            <a:r>
              <a:t>Output: </a:t>
            </a:r>
            <a:r>
              <a:rPr b="0">
                <a:solidFill>
                  <a:srgbClr val="E8F0FF"/>
                </a:solidFill>
              </a:rPr>
              <a:t>Binary — Heart Disease Present / Absent</a:t>
            </a:r>
          </a:p>
        </p:txBody>
      </p:sp>
      <p:sp>
        <p:nvSpPr>
          <p:cNvPr id="190" name="Shape 6"/>
          <p:cNvSpPr/>
          <p:nvPr/>
        </p:nvSpPr>
        <p:spPr>
          <a:xfrm>
            <a:off x="320039" y="3063239"/>
            <a:ext cx="5303522" cy="1691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Shape 7"/>
          <p:cNvSpPr/>
          <p:nvPr/>
        </p:nvSpPr>
        <p:spPr>
          <a:xfrm>
            <a:off x="320039" y="3063239"/>
            <a:ext cx="5303522" cy="64009"/>
          </a:xfrm>
          <a:prstGeom prst="rect">
            <a:avLst/>
          </a:prstGeom>
          <a:solidFill>
            <a:srgbClr val="4FAC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8"/>
          <p:cNvSpPr txBox="1"/>
          <p:nvPr/>
        </p:nvSpPr>
        <p:spPr>
          <a:xfrm>
            <a:off x="502919" y="3168650"/>
            <a:ext cx="49377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4FACFE"/>
                </a:solidFill>
              </a:defRPr>
            </a:lvl1pPr>
          </a:lstStyle>
          <a:p>
            <a:pPr/>
            <a:r>
              <a:t>🧠  SHAP TreeExplainer  (Explainability Layer)</a:t>
            </a:r>
          </a:p>
        </p:txBody>
      </p:sp>
      <p:sp>
        <p:nvSpPr>
          <p:cNvPr id="193" name="Text 9"/>
          <p:cNvSpPr txBox="1"/>
          <p:nvPr/>
        </p:nvSpPr>
        <p:spPr>
          <a:xfrm>
            <a:off x="502919" y="3836845"/>
            <a:ext cx="493776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0FF"/>
                </a:solidFill>
              </a:defRPr>
            </a:lvl1pPr>
          </a:lstStyle>
          <a:p>
            <a:pPr/>
            <a:r>
              <a:t>Decomposes every prediction into per-feature Shapley values. Each of the 13 input features receives a contribution score showing whether it pushed the risk score up or down — making the AI clinically auditable.</a:t>
            </a:r>
          </a:p>
        </p:txBody>
      </p:sp>
      <p:sp>
        <p:nvSpPr>
          <p:cNvPr id="194" name="Shape 10"/>
          <p:cNvSpPr/>
          <p:nvPr/>
        </p:nvSpPr>
        <p:spPr>
          <a:xfrm>
            <a:off x="5852159" y="914400"/>
            <a:ext cx="2926081" cy="19202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Shape 11"/>
          <p:cNvSpPr/>
          <p:nvPr/>
        </p:nvSpPr>
        <p:spPr>
          <a:xfrm>
            <a:off x="5852159" y="914400"/>
            <a:ext cx="2926081" cy="64008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2"/>
          <p:cNvSpPr txBox="1"/>
          <p:nvPr/>
        </p:nvSpPr>
        <p:spPr>
          <a:xfrm>
            <a:off x="5989320" y="1009649"/>
            <a:ext cx="26517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E63946"/>
                </a:solidFill>
              </a:defRPr>
            </a:lvl1pPr>
          </a:lstStyle>
          <a:p>
            <a:pPr/>
            <a:r>
              <a:t>🎲  CTGAN</a:t>
            </a:r>
          </a:p>
        </p:txBody>
      </p:sp>
      <p:sp>
        <p:nvSpPr>
          <p:cNvPr id="197" name="Text 13"/>
          <p:cNvSpPr txBox="1"/>
          <p:nvPr/>
        </p:nvSpPr>
        <p:spPr>
          <a:xfrm>
            <a:off x="5989320" y="1695494"/>
            <a:ext cx="26517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Conditional Tabular GAN. Generates realistic synthetic patient records preserving statistical distributions. Used for demo simulation without exposing real patient data.</a:t>
            </a:r>
          </a:p>
        </p:txBody>
      </p:sp>
      <p:sp>
        <p:nvSpPr>
          <p:cNvPr id="198" name="Shape 14"/>
          <p:cNvSpPr/>
          <p:nvPr/>
        </p:nvSpPr>
        <p:spPr>
          <a:xfrm>
            <a:off x="5852159" y="2971800"/>
            <a:ext cx="2926081" cy="1783079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" name="Shape 15"/>
          <p:cNvSpPr/>
          <p:nvPr/>
        </p:nvSpPr>
        <p:spPr>
          <a:xfrm>
            <a:off x="5852159" y="2971800"/>
            <a:ext cx="2926081" cy="64008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16"/>
          <p:cNvSpPr txBox="1"/>
          <p:nvPr/>
        </p:nvSpPr>
        <p:spPr>
          <a:xfrm>
            <a:off x="5989320" y="3067049"/>
            <a:ext cx="26517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97316"/>
                </a:solidFill>
              </a:defRPr>
            </a:lvl1pPr>
          </a:lstStyle>
          <a:p>
            <a:pPr/>
            <a:r>
              <a:t>🔬  TVAE</a:t>
            </a:r>
          </a:p>
        </p:txBody>
      </p:sp>
      <p:sp>
        <p:nvSpPr>
          <p:cNvPr id="201" name="Text 17"/>
          <p:cNvSpPr txBox="1"/>
          <p:nvPr/>
        </p:nvSpPr>
        <p:spPr>
          <a:xfrm>
            <a:off x="5989320" y="3688886"/>
            <a:ext cx="26517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Tabular Variational Autoencoder. Alternative generative engine. Pulse AI randomly selects between CTGAN &amp; TVAE for simulation diversity — a unique dual-engine quality control loop.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ML Workflow / Pipeline</a:t>
            </a:r>
          </a:p>
        </p:txBody>
      </p:sp>
      <p:sp>
        <p:nvSpPr>
          <p:cNvPr id="205" name="Shape 2"/>
          <p:cNvSpPr/>
          <p:nvPr/>
        </p:nvSpPr>
        <p:spPr>
          <a:xfrm>
            <a:off x="320040" y="914400"/>
            <a:ext cx="2743201" cy="16916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Shape 3"/>
          <p:cNvSpPr/>
          <p:nvPr/>
        </p:nvSpPr>
        <p:spPr>
          <a:xfrm>
            <a:off x="411480" y="102412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4"/>
          <p:cNvSpPr txBox="1"/>
          <p:nvPr/>
        </p:nvSpPr>
        <p:spPr>
          <a:xfrm>
            <a:off x="457200" y="1139874"/>
            <a:ext cx="3657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8" name="Text 5"/>
          <p:cNvSpPr txBox="1"/>
          <p:nvPr/>
        </p:nvSpPr>
        <p:spPr>
          <a:xfrm>
            <a:off x="1005839" y="1119431"/>
            <a:ext cx="19202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475487" y="1649774"/>
            <a:ext cx="2423162" cy="723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UCI Heart Disease Dataset (303 real records)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GAN-augmented synthetic data (2,000 records)</a:t>
            </a:r>
          </a:p>
        </p:txBody>
      </p:sp>
      <p:sp>
        <p:nvSpPr>
          <p:cNvPr id="210" name="Shape 7"/>
          <p:cNvSpPr/>
          <p:nvPr/>
        </p:nvSpPr>
        <p:spPr>
          <a:xfrm>
            <a:off x="3108960" y="1737360"/>
            <a:ext cx="91441" cy="1"/>
          </a:xfrm>
          <a:prstGeom prst="line">
            <a:avLst/>
          </a:prstGeom>
          <a:ln w="25400">
            <a:solidFill>
              <a:srgbClr val="00C2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8"/>
          <p:cNvSpPr txBox="1"/>
          <p:nvPr/>
        </p:nvSpPr>
        <p:spPr>
          <a:xfrm>
            <a:off x="3154680" y="1673860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00C2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2" name="Shape 9"/>
          <p:cNvSpPr/>
          <p:nvPr/>
        </p:nvSpPr>
        <p:spPr>
          <a:xfrm>
            <a:off x="3246120" y="914400"/>
            <a:ext cx="2743201" cy="16916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Shape 10"/>
          <p:cNvSpPr/>
          <p:nvPr/>
        </p:nvSpPr>
        <p:spPr>
          <a:xfrm>
            <a:off x="3337559" y="102412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1"/>
          <p:cNvSpPr txBox="1"/>
          <p:nvPr/>
        </p:nvSpPr>
        <p:spPr>
          <a:xfrm>
            <a:off x="3383279" y="1139874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3931920" y="1119431"/>
            <a:ext cx="19202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3401567" y="1732324"/>
            <a:ext cx="2423161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Feature extraction (13 variables)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StandardScaler normalization (mean=0, std=1)</a:t>
            </a:r>
          </a:p>
        </p:txBody>
      </p:sp>
      <p:sp>
        <p:nvSpPr>
          <p:cNvPr id="217" name="Shape 14"/>
          <p:cNvSpPr/>
          <p:nvPr/>
        </p:nvSpPr>
        <p:spPr>
          <a:xfrm>
            <a:off x="6035040" y="1737360"/>
            <a:ext cx="91441" cy="1"/>
          </a:xfrm>
          <a:prstGeom prst="line">
            <a:avLst/>
          </a:prstGeom>
          <a:ln w="25400">
            <a:solidFill>
              <a:srgbClr val="00C2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5"/>
          <p:cNvSpPr txBox="1"/>
          <p:nvPr/>
        </p:nvSpPr>
        <p:spPr>
          <a:xfrm>
            <a:off x="6080760" y="1673860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00C2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" name="Shape 16"/>
          <p:cNvSpPr/>
          <p:nvPr/>
        </p:nvSpPr>
        <p:spPr>
          <a:xfrm>
            <a:off x="6172200" y="914400"/>
            <a:ext cx="2743200" cy="16916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Shape 17"/>
          <p:cNvSpPr/>
          <p:nvPr/>
        </p:nvSpPr>
        <p:spPr>
          <a:xfrm>
            <a:off x="6263640" y="102412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8"/>
          <p:cNvSpPr txBox="1"/>
          <p:nvPr/>
        </p:nvSpPr>
        <p:spPr>
          <a:xfrm>
            <a:off x="6309360" y="1139874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2" name="Text 19"/>
          <p:cNvSpPr txBox="1"/>
          <p:nvPr/>
        </p:nvSpPr>
        <p:spPr>
          <a:xfrm>
            <a:off x="6858000" y="1119431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Train / Test Split</a:t>
            </a:r>
          </a:p>
        </p:txBody>
      </p:sp>
      <p:sp>
        <p:nvSpPr>
          <p:cNvPr id="223" name="Text 20"/>
          <p:cNvSpPr txBox="1"/>
          <p:nvPr/>
        </p:nvSpPr>
        <p:spPr>
          <a:xfrm>
            <a:off x="6327648" y="1814874"/>
            <a:ext cx="242316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80% training on real data only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20% held out for real-world evaluation</a:t>
            </a:r>
          </a:p>
        </p:txBody>
      </p:sp>
      <p:sp>
        <p:nvSpPr>
          <p:cNvPr id="224" name="Shape 21"/>
          <p:cNvSpPr/>
          <p:nvPr/>
        </p:nvSpPr>
        <p:spPr>
          <a:xfrm>
            <a:off x="320040" y="2834639"/>
            <a:ext cx="2743201" cy="1691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Shape 22"/>
          <p:cNvSpPr/>
          <p:nvPr/>
        </p:nvSpPr>
        <p:spPr>
          <a:xfrm>
            <a:off x="411480" y="294436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23"/>
          <p:cNvSpPr txBox="1"/>
          <p:nvPr/>
        </p:nvSpPr>
        <p:spPr>
          <a:xfrm>
            <a:off x="457200" y="3060114"/>
            <a:ext cx="3657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27" name="Text 24"/>
          <p:cNvSpPr txBox="1"/>
          <p:nvPr/>
        </p:nvSpPr>
        <p:spPr>
          <a:xfrm>
            <a:off x="1005839" y="3039671"/>
            <a:ext cx="19202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Model Training</a:t>
            </a:r>
          </a:p>
        </p:txBody>
      </p:sp>
      <p:sp>
        <p:nvSpPr>
          <p:cNvPr id="228" name="Text 25"/>
          <p:cNvSpPr txBox="1"/>
          <p:nvPr/>
        </p:nvSpPr>
        <p:spPr>
          <a:xfrm>
            <a:off x="475487" y="3652564"/>
            <a:ext cx="242316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RandomForestClassifier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100 trees, max_depth=10, random_state=42</a:t>
            </a:r>
          </a:p>
        </p:txBody>
      </p:sp>
      <p:sp>
        <p:nvSpPr>
          <p:cNvPr id="229" name="Shape 26"/>
          <p:cNvSpPr/>
          <p:nvPr/>
        </p:nvSpPr>
        <p:spPr>
          <a:xfrm>
            <a:off x="3108960" y="3657600"/>
            <a:ext cx="91441" cy="0"/>
          </a:xfrm>
          <a:prstGeom prst="line">
            <a:avLst/>
          </a:prstGeom>
          <a:ln w="25400">
            <a:solidFill>
              <a:srgbClr val="00C2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7"/>
          <p:cNvSpPr txBox="1"/>
          <p:nvPr/>
        </p:nvSpPr>
        <p:spPr>
          <a:xfrm>
            <a:off x="3154680" y="359409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00C2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1" name="Shape 28"/>
          <p:cNvSpPr/>
          <p:nvPr/>
        </p:nvSpPr>
        <p:spPr>
          <a:xfrm>
            <a:off x="3246120" y="2834639"/>
            <a:ext cx="2743201" cy="1691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Shape 29"/>
          <p:cNvSpPr/>
          <p:nvPr/>
        </p:nvSpPr>
        <p:spPr>
          <a:xfrm>
            <a:off x="3337559" y="294436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30"/>
          <p:cNvSpPr txBox="1"/>
          <p:nvPr/>
        </p:nvSpPr>
        <p:spPr>
          <a:xfrm>
            <a:off x="3383279" y="3060114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34" name="Text 31"/>
          <p:cNvSpPr txBox="1"/>
          <p:nvPr/>
        </p:nvSpPr>
        <p:spPr>
          <a:xfrm>
            <a:off x="3931920" y="3039671"/>
            <a:ext cx="19202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SHAP Explainability</a:t>
            </a:r>
          </a:p>
        </p:txBody>
      </p:sp>
      <p:sp>
        <p:nvSpPr>
          <p:cNvPr id="235" name="Text 32"/>
          <p:cNvSpPr txBox="1"/>
          <p:nvPr/>
        </p:nvSpPr>
        <p:spPr>
          <a:xfrm>
            <a:off x="3401567" y="3652564"/>
            <a:ext cx="242316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TreeExplainer computes Shapley values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Per-prediction feature attribution</a:t>
            </a:r>
          </a:p>
        </p:txBody>
      </p:sp>
      <p:sp>
        <p:nvSpPr>
          <p:cNvPr id="236" name="Shape 33"/>
          <p:cNvSpPr/>
          <p:nvPr/>
        </p:nvSpPr>
        <p:spPr>
          <a:xfrm>
            <a:off x="6035040" y="3657600"/>
            <a:ext cx="91441" cy="0"/>
          </a:xfrm>
          <a:prstGeom prst="line">
            <a:avLst/>
          </a:prstGeom>
          <a:ln w="25400">
            <a:solidFill>
              <a:srgbClr val="00C2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34"/>
          <p:cNvSpPr txBox="1"/>
          <p:nvPr/>
        </p:nvSpPr>
        <p:spPr>
          <a:xfrm>
            <a:off x="6080760" y="359409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00C2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8" name="Shape 35"/>
          <p:cNvSpPr/>
          <p:nvPr/>
        </p:nvSpPr>
        <p:spPr>
          <a:xfrm>
            <a:off x="6172200" y="2834639"/>
            <a:ext cx="2743200" cy="1691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Shape 36"/>
          <p:cNvSpPr/>
          <p:nvPr/>
        </p:nvSpPr>
        <p:spPr>
          <a:xfrm>
            <a:off x="6263640" y="2944367"/>
            <a:ext cx="457201" cy="457201"/>
          </a:xfrm>
          <a:prstGeom prst="ellipse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37"/>
          <p:cNvSpPr txBox="1"/>
          <p:nvPr/>
        </p:nvSpPr>
        <p:spPr>
          <a:xfrm>
            <a:off x="6309360" y="3060114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B1D3A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41" name="Text 38"/>
          <p:cNvSpPr txBox="1"/>
          <p:nvPr/>
        </p:nvSpPr>
        <p:spPr>
          <a:xfrm>
            <a:off x="6858000" y="3039671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Prediction &amp; Output</a:t>
            </a:r>
          </a:p>
        </p:txBody>
      </p:sp>
      <p:sp>
        <p:nvSpPr>
          <p:cNvPr id="242" name="Text 39"/>
          <p:cNvSpPr txBox="1"/>
          <p:nvPr/>
        </p:nvSpPr>
        <p:spPr>
          <a:xfrm>
            <a:off x="6327648" y="3735114"/>
            <a:ext cx="242316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Risk score (0-100%) + level badge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Recommendations + PDF report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Results &amp; Discussion</a:t>
            </a:r>
          </a:p>
        </p:txBody>
      </p:sp>
      <p:sp>
        <p:nvSpPr>
          <p:cNvPr id="246" name="Shape 2"/>
          <p:cNvSpPr/>
          <p:nvPr/>
        </p:nvSpPr>
        <p:spPr>
          <a:xfrm>
            <a:off x="320040" y="914400"/>
            <a:ext cx="2011679" cy="12801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" name="Shape 3"/>
          <p:cNvSpPr/>
          <p:nvPr/>
        </p:nvSpPr>
        <p:spPr>
          <a:xfrm>
            <a:off x="320040" y="914400"/>
            <a:ext cx="2011679" cy="64008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4"/>
          <p:cNvSpPr txBox="1"/>
          <p:nvPr/>
        </p:nvSpPr>
        <p:spPr>
          <a:xfrm>
            <a:off x="365760" y="1057655"/>
            <a:ext cx="192024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>
                <a:solidFill>
                  <a:srgbClr val="00C2B8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83.61%</a:t>
            </a:r>
          </a:p>
        </p:txBody>
      </p:sp>
      <p:sp>
        <p:nvSpPr>
          <p:cNvPr id="249" name="Text 5"/>
          <p:cNvSpPr txBox="1"/>
          <p:nvPr/>
        </p:nvSpPr>
        <p:spPr>
          <a:xfrm>
            <a:off x="365760" y="1816530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E8F0FF"/>
                </a:solidFill>
              </a:defRPr>
            </a:lvl1pPr>
          </a:lstStyle>
          <a:p>
            <a:pPr/>
            <a:r>
              <a:t>Overall Accuracy</a:t>
            </a:r>
          </a:p>
        </p:txBody>
      </p:sp>
      <p:sp>
        <p:nvSpPr>
          <p:cNvPr id="250" name="Shape 6"/>
          <p:cNvSpPr/>
          <p:nvPr/>
        </p:nvSpPr>
        <p:spPr>
          <a:xfrm>
            <a:off x="2496311" y="914400"/>
            <a:ext cx="2011680" cy="12801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" name="Shape 7"/>
          <p:cNvSpPr/>
          <p:nvPr/>
        </p:nvSpPr>
        <p:spPr>
          <a:xfrm>
            <a:off x="2496311" y="914400"/>
            <a:ext cx="2011680" cy="64008"/>
          </a:xfrm>
          <a:prstGeom prst="rect">
            <a:avLst/>
          </a:prstGeom>
          <a:solidFill>
            <a:srgbClr val="4FAC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8"/>
          <p:cNvSpPr txBox="1"/>
          <p:nvPr/>
        </p:nvSpPr>
        <p:spPr>
          <a:xfrm>
            <a:off x="2542032" y="1057655"/>
            <a:ext cx="192024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>
                <a:solidFill>
                  <a:srgbClr val="4FACF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91.4%</a:t>
            </a:r>
          </a:p>
        </p:txBody>
      </p:sp>
      <p:sp>
        <p:nvSpPr>
          <p:cNvPr id="253" name="Text 9"/>
          <p:cNvSpPr txBox="1"/>
          <p:nvPr/>
        </p:nvSpPr>
        <p:spPr>
          <a:xfrm>
            <a:off x="2542032" y="1733980"/>
            <a:ext cx="19202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E8F0FF"/>
                </a:solidFill>
              </a:defRPr>
            </a:pPr>
            <a:r>
              <a:t>Sensitivity</a:t>
            </a:r>
          </a:p>
          <a:p>
            <a:pPr algn="ctr">
              <a:defRPr sz="1100">
                <a:solidFill>
                  <a:srgbClr val="E8F0FF"/>
                </a:solidFill>
              </a:defRPr>
            </a:pPr>
            <a:r>
              <a:t>(Recall)</a:t>
            </a:r>
          </a:p>
        </p:txBody>
      </p:sp>
      <p:sp>
        <p:nvSpPr>
          <p:cNvPr id="254" name="Shape 10"/>
          <p:cNvSpPr/>
          <p:nvPr/>
        </p:nvSpPr>
        <p:spPr>
          <a:xfrm>
            <a:off x="4672584" y="914400"/>
            <a:ext cx="2011680" cy="12801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Shape 11"/>
          <p:cNvSpPr/>
          <p:nvPr/>
        </p:nvSpPr>
        <p:spPr>
          <a:xfrm>
            <a:off x="4672584" y="91440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12"/>
          <p:cNvSpPr txBox="1"/>
          <p:nvPr/>
        </p:nvSpPr>
        <p:spPr>
          <a:xfrm>
            <a:off x="4718304" y="1057655"/>
            <a:ext cx="192024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84.37%</a:t>
            </a:r>
          </a:p>
        </p:txBody>
      </p:sp>
      <p:sp>
        <p:nvSpPr>
          <p:cNvPr id="257" name="Text 13"/>
          <p:cNvSpPr txBox="1"/>
          <p:nvPr/>
        </p:nvSpPr>
        <p:spPr>
          <a:xfrm>
            <a:off x="4718304" y="1816530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E8F0FF"/>
                </a:solidFill>
              </a:defRPr>
            </a:lvl1pPr>
          </a:lstStyle>
          <a:p>
            <a:pPr/>
            <a:r>
              <a:t>Specificity</a:t>
            </a:r>
          </a:p>
        </p:txBody>
      </p:sp>
      <p:sp>
        <p:nvSpPr>
          <p:cNvPr id="258" name="Shape 14"/>
          <p:cNvSpPr/>
          <p:nvPr/>
        </p:nvSpPr>
        <p:spPr>
          <a:xfrm>
            <a:off x="6848856" y="914400"/>
            <a:ext cx="2011680" cy="128016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" name="Shape 15"/>
          <p:cNvSpPr/>
          <p:nvPr/>
        </p:nvSpPr>
        <p:spPr>
          <a:xfrm>
            <a:off x="6848856" y="914400"/>
            <a:ext cx="2011680" cy="64008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16"/>
          <p:cNvSpPr txBox="1"/>
          <p:nvPr/>
        </p:nvSpPr>
        <p:spPr>
          <a:xfrm>
            <a:off x="6894576" y="1057655"/>
            <a:ext cx="192024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0.88%</a:t>
            </a:r>
          </a:p>
        </p:txBody>
      </p:sp>
      <p:sp>
        <p:nvSpPr>
          <p:cNvPr id="261" name="Text 17"/>
          <p:cNvSpPr txBox="1"/>
          <p:nvPr/>
        </p:nvSpPr>
        <p:spPr>
          <a:xfrm>
            <a:off x="6894576" y="1816530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E8F0FF"/>
                </a:solidFill>
              </a:defRPr>
            </a:lvl1pPr>
          </a:lstStyle>
          <a:p>
            <a:pPr/>
            <a:r>
              <a:t>F1 Score</a:t>
            </a:r>
          </a:p>
        </p:txBody>
      </p:sp>
      <p:sp>
        <p:nvSpPr>
          <p:cNvPr id="262" name="Shape 18"/>
          <p:cNvSpPr/>
          <p:nvPr/>
        </p:nvSpPr>
        <p:spPr>
          <a:xfrm>
            <a:off x="6172200" y="2331720"/>
            <a:ext cx="2651761" cy="256032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" name="Text 19"/>
          <p:cNvSpPr txBox="1"/>
          <p:nvPr/>
        </p:nvSpPr>
        <p:spPr>
          <a:xfrm>
            <a:off x="6309360" y="2467794"/>
            <a:ext cx="23774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Key Insights</a:t>
            </a:r>
          </a:p>
        </p:txBody>
      </p:sp>
      <p:sp>
        <p:nvSpPr>
          <p:cNvPr id="264" name="Text 20"/>
          <p:cNvSpPr txBox="1"/>
          <p:nvPr/>
        </p:nvSpPr>
        <p:spPr>
          <a:xfrm>
            <a:off x="6309360" y="2937554"/>
            <a:ext cx="2377441" cy="171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High sensitivity (91.4%) is critical — missing a heart disease case is more dangerous than a false alarm.</a:t>
            </a:r>
          </a:p>
          <a:p>
            <a:pPr>
              <a:defRPr sz="1000">
                <a:solidFill>
                  <a:srgbClr val="E8F0FF"/>
                </a:solidFill>
              </a:defRPr>
            </a:pPr>
            <a:r>
              <a:t> 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Trained on 303 UCI records + 2,000 GAN-synthetic augmented samples.</a:t>
            </a:r>
          </a:p>
          <a:p>
            <a:pPr>
              <a:defRPr sz="1000">
                <a:solidFill>
                  <a:srgbClr val="E8F0FF"/>
                </a:solidFill>
              </a:defRPr>
            </a:pPr>
            <a:r>
              <a:t> 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SHAP values show 'ca' (major vessels) and 'thal' (thalassemia) are the top predictive features.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AC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"/>
          <p:cNvSpPr txBox="1"/>
          <p:nvPr/>
        </p:nvSpPr>
        <p:spPr>
          <a:xfrm>
            <a:off x="320040" y="226059"/>
            <a:ext cx="82296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Performance Evaluation Matrix</a:t>
            </a:r>
          </a:p>
        </p:txBody>
      </p:sp>
      <p:graphicFrame>
        <p:nvGraphicFramePr>
          <p:cNvPr id="268" name="Table 0"/>
          <p:cNvGraphicFramePr/>
          <p:nvPr/>
        </p:nvGraphicFramePr>
        <p:xfrm>
          <a:off x="457200" y="960119"/>
          <a:ext cx="8229600" cy="164592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60320"/>
                <a:gridCol w="1554480"/>
                <a:gridCol w="1554480"/>
                <a:gridCol w="1554480"/>
                <a:gridCol w="1005839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2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2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2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2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22B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 — No Disease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0.79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0.84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0.81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1 — Heart Disease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0.89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0.86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0.88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E8F0FF"/>
                          </a:solidFill>
                        </a:rPr>
                        <a:t>36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00C2B8"/>
                          </a:solidFill>
                        </a:rPr>
                        <a:t>Weighted Avg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00C2B8"/>
                          </a:solidFill>
                        </a:rPr>
                        <a:t>0.85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00C2B8"/>
                          </a:solidFill>
                        </a:rPr>
                        <a:t>0.84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00C2B8"/>
                          </a:solidFill>
                        </a:rPr>
                        <a:t>0.84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00C2B8"/>
                          </a:solidFill>
                        </a:rPr>
                        <a:t>61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07A73"/>
                      </a:solidFill>
                    </a:lnL>
                    <a:lnR w="6350">
                      <a:solidFill>
                        <a:srgbClr val="007A73"/>
                      </a:solidFill>
                    </a:lnR>
                    <a:lnT w="6350">
                      <a:solidFill>
                        <a:srgbClr val="007A73"/>
                      </a:solidFill>
                    </a:lnT>
                    <a:lnB w="6350">
                      <a:solidFill>
                        <a:srgbClr val="007A73"/>
                      </a:solidFill>
                    </a:lnB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269" name="Shape 2"/>
          <p:cNvSpPr/>
          <p:nvPr/>
        </p:nvSpPr>
        <p:spPr>
          <a:xfrm>
            <a:off x="457200" y="2834639"/>
            <a:ext cx="3840480" cy="20116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Text 3"/>
          <p:cNvSpPr txBox="1"/>
          <p:nvPr/>
        </p:nvSpPr>
        <p:spPr>
          <a:xfrm>
            <a:off x="594359" y="2924994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4FACFE"/>
                </a:solidFill>
              </a:defRPr>
            </a:lvl1pPr>
          </a:lstStyle>
          <a:p>
            <a:pPr/>
            <a:r>
              <a:t>Confusion Matrix</a:t>
            </a:r>
          </a:p>
        </p:txBody>
      </p:sp>
      <p:sp>
        <p:nvSpPr>
          <p:cNvPr id="271" name="Shape 4"/>
          <p:cNvSpPr/>
          <p:nvPr/>
        </p:nvSpPr>
        <p:spPr>
          <a:xfrm>
            <a:off x="548639" y="3337559"/>
            <a:ext cx="1645922" cy="731521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5"/>
          <p:cNvSpPr txBox="1"/>
          <p:nvPr/>
        </p:nvSpPr>
        <p:spPr>
          <a:xfrm>
            <a:off x="594359" y="3376756"/>
            <a:ext cx="155448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22C55E"/>
                </a:solidFill>
              </a:defRPr>
            </a:lvl1pPr>
          </a:lstStyle>
          <a:p>
            <a:pPr/>
            <a:r>
              <a:t>TN: 21</a:t>
            </a:r>
          </a:p>
        </p:txBody>
      </p:sp>
      <p:sp>
        <p:nvSpPr>
          <p:cNvPr id="273" name="Text 6"/>
          <p:cNvSpPr txBox="1"/>
          <p:nvPr/>
        </p:nvSpPr>
        <p:spPr>
          <a:xfrm>
            <a:off x="594359" y="3792387"/>
            <a:ext cx="15544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True Negative</a:t>
            </a:r>
          </a:p>
        </p:txBody>
      </p:sp>
      <p:sp>
        <p:nvSpPr>
          <p:cNvPr id="274" name="Shape 7"/>
          <p:cNvSpPr/>
          <p:nvPr/>
        </p:nvSpPr>
        <p:spPr>
          <a:xfrm>
            <a:off x="2377439" y="3337559"/>
            <a:ext cx="1645922" cy="731521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8"/>
          <p:cNvSpPr txBox="1"/>
          <p:nvPr/>
        </p:nvSpPr>
        <p:spPr>
          <a:xfrm>
            <a:off x="2423159" y="3376756"/>
            <a:ext cx="15544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E63946"/>
                </a:solidFill>
              </a:defRPr>
            </a:lvl1pPr>
          </a:lstStyle>
          <a:p>
            <a:pPr/>
            <a:r>
              <a:t>FP: 4</a:t>
            </a:r>
          </a:p>
        </p:txBody>
      </p:sp>
      <p:sp>
        <p:nvSpPr>
          <p:cNvPr id="276" name="Text 9"/>
          <p:cNvSpPr txBox="1"/>
          <p:nvPr/>
        </p:nvSpPr>
        <p:spPr>
          <a:xfrm>
            <a:off x="2423159" y="3792387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False Positive</a:t>
            </a:r>
          </a:p>
        </p:txBody>
      </p:sp>
      <p:sp>
        <p:nvSpPr>
          <p:cNvPr id="277" name="Shape 10"/>
          <p:cNvSpPr/>
          <p:nvPr/>
        </p:nvSpPr>
        <p:spPr>
          <a:xfrm>
            <a:off x="548639" y="4160520"/>
            <a:ext cx="1645922" cy="731521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1"/>
          <p:cNvSpPr txBox="1"/>
          <p:nvPr/>
        </p:nvSpPr>
        <p:spPr>
          <a:xfrm>
            <a:off x="594359" y="4199716"/>
            <a:ext cx="155448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pPr/>
            <a:r>
              <a:t>FN: 5</a:t>
            </a:r>
          </a:p>
        </p:txBody>
      </p:sp>
      <p:sp>
        <p:nvSpPr>
          <p:cNvPr id="279" name="Text 12"/>
          <p:cNvSpPr txBox="1"/>
          <p:nvPr/>
        </p:nvSpPr>
        <p:spPr>
          <a:xfrm>
            <a:off x="594359" y="4615347"/>
            <a:ext cx="15544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False Negative</a:t>
            </a:r>
          </a:p>
        </p:txBody>
      </p:sp>
      <p:sp>
        <p:nvSpPr>
          <p:cNvPr id="280" name="Shape 13"/>
          <p:cNvSpPr/>
          <p:nvPr/>
        </p:nvSpPr>
        <p:spPr>
          <a:xfrm>
            <a:off x="2377439" y="4160520"/>
            <a:ext cx="1645922" cy="731521"/>
          </a:xfrm>
          <a:prstGeom prst="rect">
            <a:avLst/>
          </a:prstGeom>
          <a:solidFill>
            <a:srgbClr val="00C2B8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4"/>
          <p:cNvSpPr txBox="1"/>
          <p:nvPr/>
        </p:nvSpPr>
        <p:spPr>
          <a:xfrm>
            <a:off x="2423159" y="4199716"/>
            <a:ext cx="15544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00C2B8"/>
                </a:solidFill>
              </a:defRPr>
            </a:lvl1pPr>
          </a:lstStyle>
          <a:p>
            <a:pPr/>
            <a:r>
              <a:t>TP: 31</a:t>
            </a:r>
          </a:p>
        </p:txBody>
      </p:sp>
      <p:sp>
        <p:nvSpPr>
          <p:cNvPr id="282" name="Text 15"/>
          <p:cNvSpPr txBox="1"/>
          <p:nvPr/>
        </p:nvSpPr>
        <p:spPr>
          <a:xfrm>
            <a:off x="2423159" y="4615347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True Positive</a:t>
            </a:r>
          </a:p>
        </p:txBody>
      </p:sp>
      <p:sp>
        <p:nvSpPr>
          <p:cNvPr id="283" name="Shape 16"/>
          <p:cNvSpPr/>
          <p:nvPr/>
        </p:nvSpPr>
        <p:spPr>
          <a:xfrm>
            <a:off x="4572000" y="2834639"/>
            <a:ext cx="4206241" cy="20116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Text 17"/>
          <p:cNvSpPr txBox="1"/>
          <p:nvPr/>
        </p:nvSpPr>
        <p:spPr>
          <a:xfrm>
            <a:off x="4709160" y="2924994"/>
            <a:ext cx="393192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4FACFE"/>
                </a:solidFill>
              </a:defRPr>
            </a:lvl1pPr>
          </a:lstStyle>
          <a:p>
            <a:pPr/>
            <a:r>
              <a:t>Additional Metrics</a:t>
            </a:r>
          </a:p>
        </p:txBody>
      </p:sp>
      <p:sp>
        <p:nvSpPr>
          <p:cNvPr id="285" name="Text 18"/>
          <p:cNvSpPr txBox="1"/>
          <p:nvPr/>
        </p:nvSpPr>
        <p:spPr>
          <a:xfrm>
            <a:off x="4709160" y="3398441"/>
            <a:ext cx="3931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ROC-AUC: </a:t>
            </a:r>
            <a:r>
              <a:rPr>
                <a:solidFill>
                  <a:srgbClr val="FFFFFF"/>
                </a:solidFill>
              </a:rPr>
              <a:t>~0.91 </a:t>
            </a:r>
            <a:r>
              <a:rPr b="0">
                <a:solidFill>
                  <a:srgbClr val="8899BB"/>
                </a:solidFill>
              </a:rPr>
              <a:t>— Excellent discriminative ability</a:t>
            </a:r>
          </a:p>
        </p:txBody>
      </p:sp>
      <p:sp>
        <p:nvSpPr>
          <p:cNvPr id="286" name="Text 19"/>
          <p:cNvSpPr txBox="1"/>
          <p:nvPr/>
        </p:nvSpPr>
        <p:spPr>
          <a:xfrm>
            <a:off x="4709160" y="3809922"/>
            <a:ext cx="39319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Training Size: </a:t>
            </a:r>
            <a:r>
              <a:rPr>
                <a:solidFill>
                  <a:srgbClr val="FFFFFF"/>
                </a:solidFill>
              </a:rPr>
              <a:t>242 records </a:t>
            </a:r>
            <a:r>
              <a:rPr b="0">
                <a:solidFill>
                  <a:srgbClr val="8899BB"/>
                </a:solidFill>
              </a:rPr>
              <a:t>— 80% of 303 UCI real samples</a:t>
            </a:r>
          </a:p>
        </p:txBody>
      </p:sp>
      <p:sp>
        <p:nvSpPr>
          <p:cNvPr id="287" name="Text 20"/>
          <p:cNvSpPr txBox="1"/>
          <p:nvPr/>
        </p:nvSpPr>
        <p:spPr>
          <a:xfrm>
            <a:off x="4709160" y="4221402"/>
            <a:ext cx="39319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Test Size: </a:t>
            </a:r>
            <a:r>
              <a:rPr>
                <a:solidFill>
                  <a:srgbClr val="FFFFFF"/>
                </a:solidFill>
              </a:rPr>
              <a:t>61 records </a:t>
            </a:r>
            <a:r>
              <a:rPr b="0">
                <a:solidFill>
                  <a:srgbClr val="8899BB"/>
                </a:solidFill>
              </a:rPr>
              <a:t>— Evaluated on real data only</a:t>
            </a:r>
          </a:p>
        </p:txBody>
      </p:sp>
      <p:sp>
        <p:nvSpPr>
          <p:cNvPr id="288" name="Text 21"/>
          <p:cNvSpPr txBox="1"/>
          <p:nvPr/>
        </p:nvSpPr>
        <p:spPr>
          <a:xfrm>
            <a:off x="4709160" y="4632882"/>
            <a:ext cx="39319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00C2B8"/>
                </a:solidFill>
              </a:defRPr>
            </a:pPr>
            <a:r>
              <a:t>Cross-validation: </a:t>
            </a:r>
            <a:r>
              <a:rPr>
                <a:solidFill>
                  <a:srgbClr val="FFFFFF"/>
                </a:solidFill>
              </a:rPr>
              <a:t>k=5 stratified </a:t>
            </a:r>
            <a:r>
              <a:rPr b="0">
                <a:solidFill>
                  <a:srgbClr val="8899BB"/>
                </a:solidFill>
              </a:rPr>
              <a:t>— Stable generalization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292" name="Shape 2"/>
          <p:cNvSpPr/>
          <p:nvPr/>
        </p:nvSpPr>
        <p:spPr>
          <a:xfrm>
            <a:off x="320039" y="960119"/>
            <a:ext cx="4206242" cy="17830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" name="Shape 3"/>
          <p:cNvSpPr/>
          <p:nvPr/>
        </p:nvSpPr>
        <p:spPr>
          <a:xfrm>
            <a:off x="320039" y="960119"/>
            <a:ext cx="4206242" cy="64009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4"/>
          <p:cNvSpPr txBox="1"/>
          <p:nvPr/>
        </p:nvSpPr>
        <p:spPr>
          <a:xfrm>
            <a:off x="475487" y="1101143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Phase 1 — Immediate Fixes</a:t>
            </a:r>
          </a:p>
        </p:txBody>
      </p:sp>
      <p:sp>
        <p:nvSpPr>
          <p:cNvPr id="295" name="Text 5"/>
          <p:cNvSpPr txBox="1"/>
          <p:nvPr/>
        </p:nvSpPr>
        <p:spPr>
          <a:xfrm>
            <a:off x="475487" y="1704638"/>
            <a:ext cx="388620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Retrain model in current scikit-learn env (fix version mismatch)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Replace hardcoded credentials with SQLite user table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Add Pydantic/Marshmallow server-side input validation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Auto-detect port conflicts on startup</a:t>
            </a:r>
          </a:p>
        </p:txBody>
      </p:sp>
      <p:sp>
        <p:nvSpPr>
          <p:cNvPr id="296" name="Shape 6"/>
          <p:cNvSpPr/>
          <p:nvPr/>
        </p:nvSpPr>
        <p:spPr>
          <a:xfrm>
            <a:off x="4754879" y="960119"/>
            <a:ext cx="4206242" cy="17830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Shape 7"/>
          <p:cNvSpPr/>
          <p:nvPr/>
        </p:nvSpPr>
        <p:spPr>
          <a:xfrm>
            <a:off x="4754879" y="960119"/>
            <a:ext cx="4206242" cy="64009"/>
          </a:xfrm>
          <a:prstGeom prst="rect">
            <a:avLst/>
          </a:prstGeom>
          <a:solidFill>
            <a:srgbClr val="4FAC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8"/>
          <p:cNvSpPr txBox="1"/>
          <p:nvPr/>
        </p:nvSpPr>
        <p:spPr>
          <a:xfrm>
            <a:off x="4910328" y="1101143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4FACFE"/>
                </a:solidFill>
              </a:defRPr>
            </a:lvl1pPr>
          </a:lstStyle>
          <a:p>
            <a:pPr/>
            <a:r>
              <a:t>Phase 2 — Clinical Enhancement</a:t>
            </a:r>
          </a:p>
        </p:txBody>
      </p:sp>
      <p:sp>
        <p:nvSpPr>
          <p:cNvPr id="299" name="Text 9"/>
          <p:cNvSpPr txBox="1"/>
          <p:nvPr/>
        </p:nvSpPr>
        <p:spPr>
          <a:xfrm>
            <a:off x="4910328" y="1704638"/>
            <a:ext cx="388620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Longitudinal patient tracking via PostgreSQL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Multi-patient dashboard for physician workflows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Confidence intervals on predictions (e.g. 72% ± 8%)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Extend to sub-diagnoses: CAD, Heart Failure, Arrhythmia</a:t>
            </a:r>
          </a:p>
        </p:txBody>
      </p:sp>
      <p:sp>
        <p:nvSpPr>
          <p:cNvPr id="300" name="Shape 10"/>
          <p:cNvSpPr/>
          <p:nvPr/>
        </p:nvSpPr>
        <p:spPr>
          <a:xfrm>
            <a:off x="320039" y="2926079"/>
            <a:ext cx="4206242" cy="17830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" name="Shape 11"/>
          <p:cNvSpPr/>
          <p:nvPr/>
        </p:nvSpPr>
        <p:spPr>
          <a:xfrm>
            <a:off x="320039" y="2926079"/>
            <a:ext cx="4206242" cy="64009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2"/>
          <p:cNvSpPr txBox="1"/>
          <p:nvPr/>
        </p:nvSpPr>
        <p:spPr>
          <a:xfrm>
            <a:off x="475487" y="3067103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97316"/>
                </a:solidFill>
              </a:defRPr>
            </a:lvl1pPr>
          </a:lstStyle>
          <a:p>
            <a:pPr/>
            <a:r>
              <a:t>Phase 3 — Technical Scaling</a:t>
            </a:r>
          </a:p>
        </p:txBody>
      </p:sp>
      <p:sp>
        <p:nvSpPr>
          <p:cNvPr id="303" name="Text 13"/>
          <p:cNvSpPr txBox="1"/>
          <p:nvPr/>
        </p:nvSpPr>
        <p:spPr>
          <a:xfrm>
            <a:off x="475487" y="3670598"/>
            <a:ext cx="388620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Expand dataset to 900+ records (Cleveland + Hungarian + Swiss)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XGBoost / LightGBM ensemble upgrade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Docker containerization for environment-agnostic deployment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REST API versioning (v1/v2)</a:t>
            </a:r>
          </a:p>
        </p:txBody>
      </p:sp>
      <p:sp>
        <p:nvSpPr>
          <p:cNvPr id="304" name="Shape 14"/>
          <p:cNvSpPr/>
          <p:nvPr/>
        </p:nvSpPr>
        <p:spPr>
          <a:xfrm>
            <a:off x="4754879" y="2926079"/>
            <a:ext cx="4206242" cy="17830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Shape 15"/>
          <p:cNvSpPr/>
          <p:nvPr/>
        </p:nvSpPr>
        <p:spPr>
          <a:xfrm>
            <a:off x="4754879" y="2926079"/>
            <a:ext cx="4206242" cy="64009"/>
          </a:xfrm>
          <a:prstGeom prst="rect">
            <a:avLst/>
          </a:prstGeom>
          <a:solidFill>
            <a:srgbClr val="E639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6"/>
          <p:cNvSpPr txBox="1"/>
          <p:nvPr/>
        </p:nvSpPr>
        <p:spPr>
          <a:xfrm>
            <a:off x="4910328" y="3067103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E63946"/>
                </a:solidFill>
              </a:defRPr>
            </a:lvl1pPr>
          </a:lstStyle>
          <a:p>
            <a:pPr/>
            <a:r>
              <a:t>Phase 4 — Enterprise &amp; Research</a:t>
            </a:r>
          </a:p>
        </p:txBody>
      </p:sp>
      <p:sp>
        <p:nvSpPr>
          <p:cNvPr id="307" name="Text 17"/>
          <p:cNvSpPr txBox="1"/>
          <p:nvPr/>
        </p:nvSpPr>
        <p:spPr>
          <a:xfrm>
            <a:off x="4910328" y="3670598"/>
            <a:ext cx="388620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HL7 FHIR integration with Electronic Health Records (EHR)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Clinical trial validation with a medical institution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FDA 510(k) pathway for SaMD regulatory clearance</a:t>
            </a:r>
          </a:p>
          <a:p>
            <a:pPr marL="342900" indent="-342900">
              <a:buSzPct val="100000"/>
              <a:buChar char="•"/>
              <a:defRPr sz="1000">
                <a:solidFill>
                  <a:srgbClr val="E8F0FF"/>
                </a:solidFill>
              </a:defRPr>
            </a:pPr>
            <a:r>
              <a:t>Federated Learning — train across hospitals without data sharing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"/>
          <p:cNvSpPr txBox="1"/>
          <p:nvPr/>
        </p:nvSpPr>
        <p:spPr>
          <a:xfrm>
            <a:off x="320040" y="194309"/>
            <a:ext cx="82296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Research &amp; Publication</a:t>
            </a:r>
          </a:p>
        </p:txBody>
      </p:sp>
      <p:sp>
        <p:nvSpPr>
          <p:cNvPr id="311" name="Shape 2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Shape 3"/>
          <p:cNvSpPr/>
          <p:nvPr/>
        </p:nvSpPr>
        <p:spPr>
          <a:xfrm>
            <a:off x="320040" y="914400"/>
            <a:ext cx="73153" cy="685800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4"/>
          <p:cNvSpPr txBox="1"/>
          <p:nvPr/>
        </p:nvSpPr>
        <p:spPr>
          <a:xfrm>
            <a:off x="548639" y="919988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C2B8"/>
                </a:solidFill>
              </a:defRPr>
            </a:lvl1pPr>
          </a:lstStyle>
          <a:p>
            <a:pPr/>
            <a:r>
              <a:t>📊  Dataset</a:t>
            </a:r>
          </a:p>
        </p:txBody>
      </p:sp>
      <p:sp>
        <p:nvSpPr>
          <p:cNvPr id="314" name="Text 5"/>
          <p:cNvSpPr txBox="1"/>
          <p:nvPr/>
        </p:nvSpPr>
        <p:spPr>
          <a:xfrm>
            <a:off x="548639" y="1284776"/>
            <a:ext cx="81381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Janosi, A., Steinbrunn, W., Pfisterer, M., &amp; Detrano, R. (1988). Heart Disease Dataset. UCI Machine Learning Repository. Cleveland Clinic Foundation.</a:t>
            </a:r>
          </a:p>
        </p:txBody>
      </p:sp>
      <p:sp>
        <p:nvSpPr>
          <p:cNvPr id="315" name="Shape 6"/>
          <p:cNvSpPr/>
          <p:nvPr/>
        </p:nvSpPr>
        <p:spPr>
          <a:xfrm>
            <a:off x="320040" y="1755648"/>
            <a:ext cx="8503920" cy="548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7"/>
          <p:cNvSpPr txBox="1"/>
          <p:nvPr/>
        </p:nvSpPr>
        <p:spPr>
          <a:xfrm>
            <a:off x="502919" y="1784857"/>
            <a:ext cx="12801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FACFE"/>
                </a:solidFill>
              </a:defRPr>
            </a:lvl1pPr>
          </a:lstStyle>
          <a:p>
            <a:pPr/>
            <a:r>
              <a:t>📖  SHAP (XAI)</a:t>
            </a:r>
          </a:p>
        </p:txBody>
      </p:sp>
      <p:sp>
        <p:nvSpPr>
          <p:cNvPr id="317" name="Text 8"/>
          <p:cNvSpPr txBox="1"/>
          <p:nvPr/>
        </p:nvSpPr>
        <p:spPr>
          <a:xfrm>
            <a:off x="1965960" y="1824018"/>
            <a:ext cx="667512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Lundberg, S.M. &amp; Lee, S.I. (2017). A Unified Approach to Interpreting Model Predictions. NeurIPS 2017. Introduces the SHAP framework used for Pulse AI's explainability layer.</a:t>
            </a:r>
          </a:p>
        </p:txBody>
      </p:sp>
      <p:sp>
        <p:nvSpPr>
          <p:cNvPr id="318" name="Shape 9"/>
          <p:cNvSpPr/>
          <p:nvPr/>
        </p:nvSpPr>
        <p:spPr>
          <a:xfrm>
            <a:off x="320040" y="2377439"/>
            <a:ext cx="8503920" cy="548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10"/>
          <p:cNvSpPr txBox="1"/>
          <p:nvPr/>
        </p:nvSpPr>
        <p:spPr>
          <a:xfrm>
            <a:off x="502919" y="2406650"/>
            <a:ext cx="12801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FACFE"/>
                </a:solidFill>
              </a:defRPr>
            </a:lvl1pPr>
          </a:lstStyle>
          <a:p>
            <a:pPr/>
            <a:r>
              <a:t>📖  Random Forest</a:t>
            </a:r>
          </a:p>
        </p:txBody>
      </p:sp>
      <p:sp>
        <p:nvSpPr>
          <p:cNvPr id="320" name="Text 11"/>
          <p:cNvSpPr txBox="1"/>
          <p:nvPr/>
        </p:nvSpPr>
        <p:spPr>
          <a:xfrm>
            <a:off x="1965960" y="2445810"/>
            <a:ext cx="667512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Breiman, L. (2001). Random Forests. Machine Learning, 45(1), 5–32. Foundational paper for the RF classifier used as Pulse AI's core prediction engine.</a:t>
            </a:r>
          </a:p>
        </p:txBody>
      </p:sp>
      <p:sp>
        <p:nvSpPr>
          <p:cNvPr id="321" name="Shape 12"/>
          <p:cNvSpPr/>
          <p:nvPr/>
        </p:nvSpPr>
        <p:spPr>
          <a:xfrm>
            <a:off x="320040" y="2999232"/>
            <a:ext cx="8503920" cy="548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3"/>
          <p:cNvSpPr txBox="1"/>
          <p:nvPr/>
        </p:nvSpPr>
        <p:spPr>
          <a:xfrm>
            <a:off x="502919" y="3028441"/>
            <a:ext cx="12801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FACFE"/>
                </a:solidFill>
              </a:defRPr>
            </a:lvl1pPr>
          </a:lstStyle>
          <a:p>
            <a:pPr/>
            <a:r>
              <a:t>📖  CTGAN</a:t>
            </a:r>
          </a:p>
        </p:txBody>
      </p:sp>
      <p:sp>
        <p:nvSpPr>
          <p:cNvPr id="323" name="Text 14"/>
          <p:cNvSpPr txBox="1"/>
          <p:nvPr/>
        </p:nvSpPr>
        <p:spPr>
          <a:xfrm>
            <a:off x="1965960" y="3067602"/>
            <a:ext cx="667512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Xu, L. et al. (2019). Modeling Tabular Data using Conditional GAN. NeurIPS 2019. Basis for the CTGAN generative simulation engine in Pulse AI.</a:t>
            </a:r>
          </a:p>
        </p:txBody>
      </p:sp>
      <p:sp>
        <p:nvSpPr>
          <p:cNvPr id="324" name="Shape 15"/>
          <p:cNvSpPr/>
          <p:nvPr/>
        </p:nvSpPr>
        <p:spPr>
          <a:xfrm>
            <a:off x="320040" y="3621023"/>
            <a:ext cx="8503920" cy="548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16"/>
          <p:cNvSpPr txBox="1"/>
          <p:nvPr/>
        </p:nvSpPr>
        <p:spPr>
          <a:xfrm>
            <a:off x="502919" y="3650233"/>
            <a:ext cx="12801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FACFE"/>
                </a:solidFill>
              </a:defRPr>
            </a:lvl1pPr>
          </a:lstStyle>
          <a:p>
            <a:pPr/>
            <a:r>
              <a:t>📖  TVAE</a:t>
            </a:r>
          </a:p>
        </p:txBody>
      </p:sp>
      <p:sp>
        <p:nvSpPr>
          <p:cNvPr id="326" name="Text 17"/>
          <p:cNvSpPr txBox="1"/>
          <p:nvPr/>
        </p:nvSpPr>
        <p:spPr>
          <a:xfrm>
            <a:off x="1965960" y="3771944"/>
            <a:ext cx="667512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Xu, L. et al. (2019). SDV: The Synthetic Data Vault. IEEE DSAA 2016. Foundation for the TVAE second generative engine.</a:t>
            </a:r>
          </a:p>
        </p:txBody>
      </p:sp>
      <p:sp>
        <p:nvSpPr>
          <p:cNvPr id="327" name="Shape 18"/>
          <p:cNvSpPr/>
          <p:nvPr/>
        </p:nvSpPr>
        <p:spPr>
          <a:xfrm>
            <a:off x="320040" y="4242815"/>
            <a:ext cx="8503920" cy="548641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9"/>
          <p:cNvSpPr txBox="1"/>
          <p:nvPr/>
        </p:nvSpPr>
        <p:spPr>
          <a:xfrm>
            <a:off x="502919" y="4272025"/>
            <a:ext cx="12801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FACFE"/>
                </a:solidFill>
              </a:defRPr>
            </a:lvl1pPr>
          </a:lstStyle>
          <a:p>
            <a:pPr/>
            <a:r>
              <a:t>📖  Clinical AI</a:t>
            </a:r>
          </a:p>
        </p:txBody>
      </p:sp>
      <p:sp>
        <p:nvSpPr>
          <p:cNvPr id="329" name="Text 20"/>
          <p:cNvSpPr txBox="1"/>
          <p:nvPr/>
        </p:nvSpPr>
        <p:spPr>
          <a:xfrm>
            <a:off x="1965960" y="4311186"/>
            <a:ext cx="667512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Topol, E.J. (2019). High-performance medicine: the convergence of human and artificial intelligence. Nature Medicine, 25, 44–56. Supports the CDSS design philosophy.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0" y="0"/>
            <a:ext cx="9144000" cy="1005839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1"/>
          <p:cNvSpPr txBox="1"/>
          <p:nvPr/>
        </p:nvSpPr>
        <p:spPr>
          <a:xfrm>
            <a:off x="365759" y="179069"/>
            <a:ext cx="841248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0B1D3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33" name="Text 2"/>
          <p:cNvSpPr txBox="1"/>
          <p:nvPr/>
        </p:nvSpPr>
        <p:spPr>
          <a:xfrm>
            <a:off x="502919" y="1243024"/>
            <a:ext cx="8138161" cy="577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700">
                <a:solidFill>
                  <a:srgbClr val="E8F0FF"/>
                </a:solidFill>
              </a:defRPr>
            </a:lvl1pPr>
          </a:lstStyle>
          <a:p>
            <a:pPr/>
            <a:r>
              <a:t>Pulse AI demonstrates that AI in healthcare doesn't have to be a black box — it can be transparent, explainable, and actionable.</a:t>
            </a:r>
          </a:p>
        </p:txBody>
      </p:sp>
      <p:sp>
        <p:nvSpPr>
          <p:cNvPr id="334" name="Shape 3"/>
          <p:cNvSpPr/>
          <p:nvPr/>
        </p:nvSpPr>
        <p:spPr>
          <a:xfrm>
            <a:off x="320040" y="2057400"/>
            <a:ext cx="2743201" cy="23774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Shape 4"/>
          <p:cNvSpPr/>
          <p:nvPr/>
        </p:nvSpPr>
        <p:spPr>
          <a:xfrm>
            <a:off x="320040" y="2057400"/>
            <a:ext cx="2743201" cy="64008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5"/>
          <p:cNvSpPr txBox="1"/>
          <p:nvPr/>
        </p:nvSpPr>
        <p:spPr>
          <a:xfrm>
            <a:off x="365760" y="2119629"/>
            <a:ext cx="2651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337" name="Text 6"/>
          <p:cNvSpPr txBox="1"/>
          <p:nvPr/>
        </p:nvSpPr>
        <p:spPr>
          <a:xfrm>
            <a:off x="457200" y="2742114"/>
            <a:ext cx="2468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What We Built</a:t>
            </a:r>
          </a:p>
        </p:txBody>
      </p:sp>
      <p:sp>
        <p:nvSpPr>
          <p:cNvPr id="338" name="Text 7"/>
          <p:cNvSpPr txBox="1"/>
          <p:nvPr/>
        </p:nvSpPr>
        <p:spPr>
          <a:xfrm>
            <a:off x="475487" y="3225336"/>
            <a:ext cx="2432306" cy="88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A full-stack Clinical Decision Support System with ML prediction, SHAP explainability, generative simulation, personalized recommendations, and PDF reporting — all locally hosted.</a:t>
            </a:r>
          </a:p>
        </p:txBody>
      </p:sp>
      <p:sp>
        <p:nvSpPr>
          <p:cNvPr id="339" name="Shape 8"/>
          <p:cNvSpPr/>
          <p:nvPr/>
        </p:nvSpPr>
        <p:spPr>
          <a:xfrm>
            <a:off x="3264408" y="2057400"/>
            <a:ext cx="2743201" cy="23774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Shape 9"/>
          <p:cNvSpPr/>
          <p:nvPr/>
        </p:nvSpPr>
        <p:spPr>
          <a:xfrm>
            <a:off x="3264408" y="2057400"/>
            <a:ext cx="2743201" cy="64008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10"/>
          <p:cNvSpPr txBox="1"/>
          <p:nvPr/>
        </p:nvSpPr>
        <p:spPr>
          <a:xfrm>
            <a:off x="3310128" y="2119629"/>
            <a:ext cx="2651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📈</a:t>
            </a:r>
          </a:p>
        </p:txBody>
      </p:sp>
      <p:sp>
        <p:nvSpPr>
          <p:cNvPr id="342" name="Text 11"/>
          <p:cNvSpPr txBox="1"/>
          <p:nvPr/>
        </p:nvSpPr>
        <p:spPr>
          <a:xfrm>
            <a:off x="3401567" y="2742114"/>
            <a:ext cx="24688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What We Proved</a:t>
            </a:r>
          </a:p>
        </p:txBody>
      </p:sp>
      <p:sp>
        <p:nvSpPr>
          <p:cNvPr id="343" name="Text 12"/>
          <p:cNvSpPr txBox="1"/>
          <p:nvPr/>
        </p:nvSpPr>
        <p:spPr>
          <a:xfrm>
            <a:off x="3419855" y="3345986"/>
            <a:ext cx="2432306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83.61% accuracy with 91.4% sensitivity on UCI Heart Disease data. High sensitivity prioritized because missing a cardiac case is far worse than a false alarm.</a:t>
            </a:r>
          </a:p>
        </p:txBody>
      </p:sp>
      <p:sp>
        <p:nvSpPr>
          <p:cNvPr id="344" name="Shape 13"/>
          <p:cNvSpPr/>
          <p:nvPr/>
        </p:nvSpPr>
        <p:spPr>
          <a:xfrm>
            <a:off x="6208776" y="2057400"/>
            <a:ext cx="2743201" cy="237744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Shape 14"/>
          <p:cNvSpPr/>
          <p:nvPr/>
        </p:nvSpPr>
        <p:spPr>
          <a:xfrm>
            <a:off x="6208776" y="2057400"/>
            <a:ext cx="2743201" cy="64008"/>
          </a:xfrm>
          <a:prstGeom prst="rect">
            <a:avLst/>
          </a:prstGeom>
          <a:solidFill>
            <a:srgbClr val="00C2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15"/>
          <p:cNvSpPr txBox="1"/>
          <p:nvPr/>
        </p:nvSpPr>
        <p:spPr>
          <a:xfrm>
            <a:off x="6254496" y="2119629"/>
            <a:ext cx="2651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🚀</a:t>
            </a:r>
          </a:p>
        </p:txBody>
      </p:sp>
      <p:sp>
        <p:nvSpPr>
          <p:cNvPr id="347" name="Text 16"/>
          <p:cNvSpPr txBox="1"/>
          <p:nvPr/>
        </p:nvSpPr>
        <p:spPr>
          <a:xfrm>
            <a:off x="6345935" y="2742114"/>
            <a:ext cx="24688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00C2B8"/>
                </a:solidFill>
              </a:defRPr>
            </a:lvl1pPr>
          </a:lstStyle>
          <a:p>
            <a:pPr/>
            <a:r>
              <a:t>What's Next</a:t>
            </a:r>
          </a:p>
        </p:txBody>
      </p:sp>
      <p:sp>
        <p:nvSpPr>
          <p:cNvPr id="348" name="Text 17"/>
          <p:cNvSpPr txBox="1"/>
          <p:nvPr/>
        </p:nvSpPr>
        <p:spPr>
          <a:xfrm>
            <a:off x="6364223" y="3345986"/>
            <a:ext cx="2432305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0FF"/>
                </a:solidFill>
              </a:defRPr>
            </a:lvl1pPr>
          </a:lstStyle>
          <a:p>
            <a:pPr/>
            <a:r>
              <a:t>Retrain on expanded multi-hospital datasets, pursue Docker deployment, HL7 FHIR integration, and eventually FDA 510(k) clearance for real clinical use.</a:t>
            </a:r>
          </a:p>
        </p:txBody>
      </p:sp>
      <p:sp>
        <p:nvSpPr>
          <p:cNvPr id="349" name="Shape 18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12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19"/>
          <p:cNvSpPr txBox="1"/>
          <p:nvPr/>
        </p:nvSpPr>
        <p:spPr>
          <a:xfrm>
            <a:off x="411479" y="4832648"/>
            <a:ext cx="83210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899BB"/>
                </a:solidFill>
              </a:defRPr>
            </a:lvl1pPr>
          </a:lstStyle>
          <a:p>
            <a:pPr/>
            <a:r>
              <a:t>© 2026  Pulse AI — Clinical Decision Support System  ·  Academic Prototype  ·  Not FDA Approved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